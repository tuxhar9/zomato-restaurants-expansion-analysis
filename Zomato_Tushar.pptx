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Ref idx="minor">
          <a:srgbClr val="000000"/>
        </a:fontRef>
        <a:srgbClr val="000000"/>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rgbClr val="D0DEEF"/>
          </a:solidFill>
        </a:fill>
      </a:tcStyle>
    </a:wholeTbl>
    <a:band2H>
      <a:tcTxStyle/>
      <a:tcStyle>
        <a:tcBdr/>
        <a:fill>
          <a:solidFill>
            <a:srgbClr val="E9EFF7"/>
          </a:solidFill>
        </a:fill>
      </a:tcStyle>
    </a:band2H>
    <a:firstCol>
      <a:tcTxStyle b="on">
        <a:fontRef idx="minor">
          <a:srgbClr val="000000"/>
        </a:fontRef>
        <a:srgbClr val="000000"/>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rgbClr val="D0DEEF"/>
          </a:solidFill>
        </a:fill>
      </a:tcStyle>
    </a:firstCol>
    <a:lastRow>
      <a:tcTxStyle b="on">
        <a:fontRef idx="minor">
          <a:srgbClr val="000000"/>
        </a:fontRef>
        <a:srgbClr val="000000"/>
      </a:tcTxStyle>
      <a:tcStyle>
        <a:tcBdr>
          <a:left>
            <a:ln w="12700" cap="flat">
              <a:solidFill>
                <a:schemeClr val="accent5"/>
              </a:solidFill>
              <a:prstDash val="solid"/>
              <a:round/>
            </a:ln>
          </a:left>
          <a:right>
            <a:ln w="12700" cap="flat">
              <a:solidFill>
                <a:schemeClr val="accent5"/>
              </a:solidFill>
              <a:prstDash val="solid"/>
              <a:round/>
            </a:ln>
          </a:right>
          <a:top>
            <a:ln w="254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rgbClr val="E9EFF7"/>
          </a:solidFill>
        </a:fill>
      </a:tcStyle>
    </a:lastRow>
    <a:firstRow>
      <a:tcTxStyle b="on">
        <a:fontRef idx="minor">
          <a:srgbClr val="000000"/>
        </a:fontRef>
        <a:srgbClr val="000000"/>
      </a:tcTxStyle>
      <a:tcStyle>
        <a:tcBdr>
          <a:left>
            <a:ln w="12700" cap="flat">
              <a:solidFill>
                <a:schemeClr val="accent5"/>
              </a:solidFill>
              <a:prstDash val="solid"/>
              <a:round/>
            </a:ln>
          </a:left>
          <a:right>
            <a:ln w="12700" cap="flat">
              <a:solidFill>
                <a:schemeClr val="accent5"/>
              </a:solidFill>
              <a:prstDash val="solid"/>
              <a:round/>
            </a:ln>
          </a:right>
          <a:top>
            <a:ln w="12700" cap="flat">
              <a:solidFill>
                <a:schemeClr val="accent5"/>
              </a:solidFill>
              <a:prstDash val="solid"/>
              <a:round/>
            </a:ln>
          </a:top>
          <a:bottom>
            <a:ln w="12700" cap="flat">
              <a:solidFill>
                <a:schemeClr val="accent5"/>
              </a:solidFill>
              <a:prstDash val="solid"/>
              <a:round/>
            </a:ln>
          </a:bottom>
          <a:insideH>
            <a:ln w="12700" cap="flat">
              <a:solidFill>
                <a:schemeClr val="accent5"/>
              </a:solidFill>
              <a:prstDash val="solid"/>
              <a:round/>
            </a:ln>
          </a:insideH>
          <a:insideV>
            <a:ln w="12700" cap="flat">
              <a:solidFill>
                <a:schemeClr val="accent5"/>
              </a:solidFill>
              <a:prstDash val="solid"/>
              <a:round/>
            </a:ln>
          </a:insideV>
        </a:tcBdr>
        <a:fill>
          <a:solidFill>
            <a:srgbClr val="E9EFF7"/>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tusharnaha/Desktop/Zomato%20Project/Zomato_Tushar.xlsx" TargetMode="Externa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3.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[Zomato_Tushar.xlsx]Pivot_Table!PivotTable5</c:name>
    <c:fmtId val="-1"/>
  </c:pivotSource>
  <c:chart>
    <c:title>
      <c:tx>
        <c:rich>
          <a:bodyPr rot="0" spcFirstLastPara="0" vertOverflow="ellipsis" vert="horz" wrap="square" anchor="ctr" anchorCtr="1"/>
          <a:lstStyle/>
          <a:p>
            <a:pPr>
              <a:defRPr lang="en-US" sz="1400" b="1" i="0" u="none" strike="noStrike" kern="1200" baseline="0">
                <a:solidFill>
                  <a:schemeClr val="tx1">
                    <a:lumMod val="75000"/>
                    <a:lumOff val="25000"/>
                  </a:schemeClr>
                </a:solidFill>
                <a:latin typeface="+mn-lt"/>
                <a:ea typeface="+mn-ea"/>
                <a:cs typeface="+mn-cs"/>
              </a:defRPr>
            </a:pPr>
            <a:r>
              <a:t>Cities And Respective Countries</a:t>
            </a:r>
          </a:p>
        </c:rich>
      </c:tx>
      <c:layout/>
      <c:overlay val="0"/>
      <c:spPr>
        <a:noFill/>
        <a:ln>
          <a:noFill/>
        </a:ln>
        <a:effectLst/>
      </c:spPr>
    </c:title>
    <c:autoTitleDeleted val="0"/>
    <c:plotArea>
      <c:layout/>
      <c:barChart>
        <c:barDir val="col"/>
        <c:grouping val="clustered"/>
        <c:varyColors val="0"/>
        <c:ser>
          <c:idx val="0"/>
          <c:order val="0"/>
          <c:tx>
            <c:strRef>
              <c:f>[Zomato_Tushar.xlsx]Pivot_Table!$C$87</c:f>
              <c:strCache>
                <c:ptCount val="1"/>
                <c:pt idx="0">
                  <c:v>Count of RestaurantID</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160000" scaled="1"/>
              </a:gradFill>
            </a:ln>
            <a:effectLst>
              <a:outerShdw blurRad="76200" dist="25400" dir="2700000" algn="tl" rotWithShape="0">
                <a:schemeClr val="accent1">
                  <a:lumMod val="50000"/>
                  <a:alpha val="30000"/>
                </a:schemeClr>
              </a:outerShdw>
            </a:effectLst>
          </c:spPr>
          <c:invertIfNegative val="0"/>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multiLvlStrRef>
              <c:f>[Zomato_Tushar.xlsx]Pivot_Table!$A$88:$B$110</c:f>
              <c:multiLvlStrCache>
                <c:ptCount val="18"/>
                <c:lvl>
                  <c:pt idx="0">
                    <c:v>Bandung</c:v>
                  </c:pt>
                  <c:pt idx="1">
                    <c:v>Bogor</c:v>
                  </c:pt>
                  <c:pt idx="2">
                    <c:v>Jakarta</c:v>
                  </c:pt>
                  <c:pt idx="3">
                    <c:v>Tangerang</c:v>
                  </c:pt>
                  <c:pt idx="4">
                    <c:v>Makati City</c:v>
                  </c:pt>
                  <c:pt idx="5">
                    <c:v>Mandaluyong City</c:v>
                  </c:pt>
                  <c:pt idx="6">
                    <c:v>Pasay City</c:v>
                  </c:pt>
                  <c:pt idx="7">
                    <c:v>Pasig City</c:v>
                  </c:pt>
                  <c:pt idx="8">
                    <c:v>Quezon City</c:v>
                  </c:pt>
                  <c:pt idx="9">
                    <c:v>San Juan City</c:v>
                  </c:pt>
                  <c:pt idx="10">
                    <c:v>Santa Rosa</c:v>
                  </c:pt>
                  <c:pt idx="11">
                    <c:v>Tagaytay City</c:v>
                  </c:pt>
                  <c:pt idx="12">
                    <c:v>Taguig City</c:v>
                  </c:pt>
                  <c:pt idx="13">
                    <c:v>Ankara</c:v>
                  </c:pt>
                  <c:pt idx="14">
                    <c:v>Istanbul</c:v>
                  </c:pt>
                  <c:pt idx="15">
                    <c:v>Abu Dhabi</c:v>
                  </c:pt>
                  <c:pt idx="16">
                    <c:v>Dubai</c:v>
                  </c:pt>
                  <c:pt idx="17">
                    <c:v>Sharjah</c:v>
                  </c:pt>
                </c:lvl>
                <c:lvl>
                  <c:pt idx="0">
                    <c:v>Indonesia</c:v>
                  </c:pt>
                  <c:pt idx="4">
                    <c:v>Philippines</c:v>
                  </c:pt>
                  <c:pt idx="13">
                    <c:v>Turkey</c:v>
                  </c:pt>
                  <c:pt idx="15">
                    <c:v>United Arab Emirates</c:v>
                  </c:pt>
                </c:lvl>
              </c:multiLvlStrCache>
            </c:multiLvlStrRef>
          </c:cat>
          <c:val>
            <c:numRef>
              <c:f>[Zomato_Tushar.xlsx]Pivot_Table!$C$88:$C$110</c:f>
              <c:numCache>
                <c:formatCode>General</c:formatCode>
                <c:ptCount val="18"/>
                <c:pt idx="0">
                  <c:v>1</c:v>
                </c:pt>
                <c:pt idx="1">
                  <c:v>2</c:v>
                </c:pt>
                <c:pt idx="2">
                  <c:v>16</c:v>
                </c:pt>
                <c:pt idx="3">
                  <c:v>2</c:v>
                </c:pt>
                <c:pt idx="4">
                  <c:v>2</c:v>
                </c:pt>
                <c:pt idx="5">
                  <c:v>4</c:v>
                </c:pt>
                <c:pt idx="6">
                  <c:v>3</c:v>
                </c:pt>
                <c:pt idx="7">
                  <c:v>3</c:v>
                </c:pt>
                <c:pt idx="8">
                  <c:v>1</c:v>
                </c:pt>
                <c:pt idx="9">
                  <c:v>2</c:v>
                </c:pt>
                <c:pt idx="10">
                  <c:v>2</c:v>
                </c:pt>
                <c:pt idx="11">
                  <c:v>1</c:v>
                </c:pt>
                <c:pt idx="12">
                  <c:v>4</c:v>
                </c:pt>
                <c:pt idx="13">
                  <c:v>20</c:v>
                </c:pt>
                <c:pt idx="14">
                  <c:v>14</c:v>
                </c:pt>
                <c:pt idx="15">
                  <c:v>20</c:v>
                </c:pt>
                <c:pt idx="16">
                  <c:v>20</c:v>
                </c:pt>
                <c:pt idx="17">
                  <c:v>20</c:v>
                </c:pt>
              </c:numCache>
            </c:numRef>
          </c:val>
        </c:ser>
        <c:dLbls>
          <c:showLegendKey val="0"/>
          <c:showVal val="1"/>
          <c:showCatName val="0"/>
          <c:showSerName val="0"/>
          <c:showPercent val="0"/>
          <c:showBubbleSize val="0"/>
        </c:dLbls>
        <c:gapWidth val="75"/>
        <c:overlap val="40"/>
        <c:axId val="1870661128"/>
        <c:axId val="1886264840"/>
      </c:barChart>
      <c:lineChart>
        <c:grouping val="standard"/>
        <c:varyColors val="0"/>
        <c:ser>
          <c:idx val="1"/>
          <c:order val="1"/>
          <c:tx>
            <c:strRef>
              <c:f>[Zomato_Tushar.xlsx]Pivot_Table!$D$87</c:f>
              <c:strCache>
                <c:ptCount val="1"/>
                <c:pt idx="0">
                  <c:v>Average of Rating</c:v>
                </c:pt>
              </c:strCache>
            </c:strRef>
          </c:tx>
          <c:spPr>
            <a:ln w="28575" cap="rnd">
              <a:solidFill>
                <a:schemeClr val="accent2"/>
              </a:solidFill>
              <a:round/>
            </a:ln>
            <a:effectLst>
              <a:outerShdw blurRad="76200" dist="25400" dir="2700000" algn="tl" rotWithShape="0">
                <a:schemeClr val="accent2">
                  <a:lumMod val="50000"/>
                  <a:alpha val="30000"/>
                </a:schemeClr>
              </a:outerShdw>
            </a:effectLst>
          </c:spPr>
          <c:marker>
            <c:symbol val="circle"/>
            <c:size val="5"/>
            <c:spPr>
              <a:solidFill>
                <a:schemeClr val="accent2"/>
              </a:solidFill>
              <a:ln w="9525">
                <a:solidFill>
                  <a:schemeClr val="accent2"/>
                </a:solidFill>
              </a:ln>
              <a:effectLst/>
            </c:spPr>
          </c:marker>
          <c:dLbls>
            <c:numFmt formatCode="General" sourceLinked="1"/>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multiLvlStrRef>
              <c:f>[Zomato_Tushar.xlsx]Pivot_Table!$A$88:$B$110</c:f>
              <c:multiLvlStrCache>
                <c:ptCount val="18"/>
                <c:lvl>
                  <c:pt idx="0">
                    <c:v>Bandung</c:v>
                  </c:pt>
                  <c:pt idx="1">
                    <c:v>Bogor</c:v>
                  </c:pt>
                  <c:pt idx="2">
                    <c:v>Jakarta</c:v>
                  </c:pt>
                  <c:pt idx="3">
                    <c:v>Tangerang</c:v>
                  </c:pt>
                  <c:pt idx="4">
                    <c:v>Makati City</c:v>
                  </c:pt>
                  <c:pt idx="5">
                    <c:v>Mandaluyong City</c:v>
                  </c:pt>
                  <c:pt idx="6">
                    <c:v>Pasay City</c:v>
                  </c:pt>
                  <c:pt idx="7">
                    <c:v>Pasig City</c:v>
                  </c:pt>
                  <c:pt idx="8">
                    <c:v>Quezon City</c:v>
                  </c:pt>
                  <c:pt idx="9">
                    <c:v>San Juan City</c:v>
                  </c:pt>
                  <c:pt idx="10">
                    <c:v>Santa Rosa</c:v>
                  </c:pt>
                  <c:pt idx="11">
                    <c:v>Tagaytay City</c:v>
                  </c:pt>
                  <c:pt idx="12">
                    <c:v>Taguig City</c:v>
                  </c:pt>
                  <c:pt idx="13">
                    <c:v>Ankara</c:v>
                  </c:pt>
                  <c:pt idx="14">
                    <c:v>Istanbul</c:v>
                  </c:pt>
                  <c:pt idx="15">
                    <c:v>Abu Dhabi</c:v>
                  </c:pt>
                  <c:pt idx="16">
                    <c:v>Dubai</c:v>
                  </c:pt>
                  <c:pt idx="17">
                    <c:v>Sharjah</c:v>
                  </c:pt>
                </c:lvl>
                <c:lvl>
                  <c:pt idx="0">
                    <c:v>Indonesia</c:v>
                  </c:pt>
                  <c:pt idx="4">
                    <c:v>Philippines</c:v>
                  </c:pt>
                  <c:pt idx="13">
                    <c:v>Turkey</c:v>
                  </c:pt>
                  <c:pt idx="15">
                    <c:v>United Arab Emirates</c:v>
                  </c:pt>
                </c:lvl>
              </c:multiLvlStrCache>
            </c:multiLvlStrRef>
          </c:cat>
          <c:val>
            <c:numRef>
              <c:f>[Zomato_Tushar.xlsx]Pivot_Table!$D$88:$D$110</c:f>
              <c:numCache>
                <c:formatCode>0.00</c:formatCode>
                <c:ptCount val="18"/>
                <c:pt idx="0">
                  <c:v>4.2</c:v>
                </c:pt>
                <c:pt idx="1">
                  <c:v>3.85</c:v>
                </c:pt>
                <c:pt idx="2">
                  <c:v>4.35625</c:v>
                </c:pt>
                <c:pt idx="3">
                  <c:v>4.3</c:v>
                </c:pt>
                <c:pt idx="4">
                  <c:v>4.65</c:v>
                </c:pt>
                <c:pt idx="5">
                  <c:v>4.625</c:v>
                </c:pt>
                <c:pt idx="6">
                  <c:v>4.36666666666667</c:v>
                </c:pt>
                <c:pt idx="7">
                  <c:v>4.63333333333333</c:v>
                </c:pt>
                <c:pt idx="8">
                  <c:v>4.8</c:v>
                </c:pt>
                <c:pt idx="9">
                  <c:v>4.25</c:v>
                </c:pt>
                <c:pt idx="10">
                  <c:v>3.8</c:v>
                </c:pt>
                <c:pt idx="11">
                  <c:v>4.5</c:v>
                </c:pt>
                <c:pt idx="12">
                  <c:v>4.525</c:v>
                </c:pt>
                <c:pt idx="13">
                  <c:v>4.305</c:v>
                </c:pt>
                <c:pt idx="14">
                  <c:v>4.29285714285714</c:v>
                </c:pt>
                <c:pt idx="15">
                  <c:v>4.3</c:v>
                </c:pt>
                <c:pt idx="16">
                  <c:v>4.37</c:v>
                </c:pt>
                <c:pt idx="17">
                  <c:v>4.03</c:v>
                </c:pt>
              </c:numCache>
            </c:numRef>
          </c:val>
          <c:smooth val="0"/>
        </c:ser>
        <c:dLbls>
          <c:showLegendKey val="0"/>
          <c:showVal val="1"/>
          <c:showCatName val="0"/>
          <c:showSerName val="0"/>
          <c:showPercent val="0"/>
          <c:showBubbleSize val="0"/>
        </c:dLbls>
        <c:marker val="1"/>
        <c:smooth val="0"/>
        <c:axId val="2002975752"/>
        <c:axId val="1886308360"/>
      </c:lineChart>
      <c:catAx>
        <c:axId val="1870661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886264840"/>
        <c:crosses val="autoZero"/>
        <c:auto val="1"/>
        <c:lblAlgn val="ctr"/>
        <c:lblOffset val="100"/>
        <c:noMultiLvlLbl val="0"/>
      </c:catAx>
      <c:valAx>
        <c:axId val="1886264840"/>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870661128"/>
        <c:crosses val="autoZero"/>
        <c:crossBetween val="between"/>
      </c:valAx>
      <c:catAx>
        <c:axId val="2002975752"/>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1886308360"/>
        <c:crosses val="autoZero"/>
        <c:auto val="1"/>
        <c:lblAlgn val="ctr"/>
        <c:lblOffset val="100"/>
        <c:noMultiLvlLbl val="0"/>
      </c:catAx>
      <c:valAx>
        <c:axId val="1886308360"/>
        <c:scaling>
          <c:orientation val="minMax"/>
        </c:scaling>
        <c:delete val="0"/>
        <c:axPos val="r"/>
        <c:numFmt formatCode="0.00"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002975752"/>
        <c:crosses val="max"/>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d6b2eb9-d781-44ea-a98e-334abfec2779}"/>
      </c:ext>
    </c:extLst>
  </c:chart>
  <c:spPr>
    <a:solidFill>
      <a:schemeClr val="bg1"/>
    </a:solid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100" b="1" i="0" u="none" strike="noStrike" kern="1200" baseline="0">
                <a:solidFill>
                  <a:srgbClr val="595959"/>
                </a:solidFill>
                <a:latin typeface="Calibri"/>
                <a:ea typeface="+mn-ea"/>
                <a:cs typeface="+mn-cs"/>
              </a:defRPr>
            </a:pPr>
            <a:r>
              <a:rPr sz="1100" b="1" i="0" u="none" strike="noStrike">
                <a:solidFill>
                  <a:srgbClr val="595959"/>
                </a:solidFill>
                <a:latin typeface="Calibri"/>
              </a:rPr>
              <a:t>Provide Online Delivery</a:t>
            </a:r>
            <a:endParaRPr sz="1100" b="1" i="0" u="none" strike="noStrike">
              <a:solidFill>
                <a:srgbClr val="595959"/>
              </a:solidFill>
              <a:latin typeface="Calibri"/>
            </a:endParaRPr>
          </a:p>
        </c:rich>
      </c:tx>
      <c:layout>
        <c:manualLayout>
          <c:xMode val="edge"/>
          <c:yMode val="edge"/>
          <c:x val="0.186571"/>
          <c:y val="0"/>
          <c:w val="0.626857"/>
          <c:h val="0.124443"/>
        </c:manualLayout>
      </c:layout>
      <c:overlay val="1"/>
      <c:spPr>
        <a:noFill/>
        <a:effectLst/>
      </c:spPr>
    </c:title>
    <c:autoTitleDeleted val="0"/>
    <c:plotArea>
      <c:layout>
        <c:manualLayout>
          <c:layoutTarget val="inner"/>
          <c:xMode val="edge"/>
          <c:yMode val="edge"/>
          <c:x val="0.0775312"/>
          <c:y val="0.124443"/>
          <c:w val="0.844938"/>
          <c:h val="0.789469"/>
        </c:manualLayout>
      </c:layout>
      <c:doughnutChart>
        <c:varyColors val="0"/>
        <c:dLbls>
          <c:showLegendKey val="0"/>
          <c:showVal val="0"/>
          <c:showCatName val="0"/>
          <c:showSerName val="0"/>
          <c:showPercent val="0"/>
          <c:showBubbleSize val="0"/>
          <c:showLeaderLines val="1"/>
        </c:dLbls>
        <c:firstSliceAng val="0"/>
        <c:holeSize val="70"/>
      </c:doughnutChart>
      <c:spPr>
        <a:noFill/>
        <a:ln w="12700" cap="flat">
          <a:noFill/>
          <a:miter lim="400000"/>
        </a:ln>
        <a:effectLst/>
      </c:spPr>
    </c:plotArea>
    <c:legend>
      <c:legendPos val="r"/>
      <c:layout>
        <c:manualLayout>
          <c:xMode val="edge"/>
          <c:yMode val="edge"/>
          <c:x val="0.392713"/>
          <c:y val="0.425958"/>
          <c:w val="0.219657"/>
          <c:h val="0.124386"/>
        </c:manualLayout>
      </c:layout>
      <c:overlay val="1"/>
      <c:spPr>
        <a:noFill/>
        <a:ln w="12700" cap="flat">
          <a:noFill/>
          <a:miter lim="400000"/>
        </a:ln>
        <a:effectLst/>
      </c:spPr>
      <c:txPr>
        <a:bodyPr rot="0" spcFirstLastPara="0" vertOverflow="ellipsis" vert="horz" wrap="square" anchor="ctr" anchorCtr="1"/>
        <a:lstStyle/>
        <a:p>
          <a:pPr>
            <a:defRPr lang="en-US" sz="900" b="0" i="0" u="none" strike="noStrike" kern="1200" baseline="0">
              <a:solidFill>
                <a:srgbClr val="595959"/>
              </a:solidFill>
              <a:latin typeface="Calibri"/>
              <a:ea typeface="+mn-ea"/>
              <a:cs typeface="+mn-cs"/>
            </a:defRPr>
          </a:pPr>
        </a:p>
      </c:txPr>
    </c:legend>
    <c:plotVisOnly val="1"/>
    <c:dispBlanksAs val="gap"/>
    <c:showDLblsOverMax val="0"/>
    <c:extLst>
      <c:ext uri="{0b15fc19-7d7d-44ad-8c2d-2c3a37ce22c3}">
        <chartProps xmlns="https://web.wps.cn/et/2018/main" chartId="{a6a0f282-0893-47ed-87f3-8ffad6629791}"/>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[Zomato_Tushar (1).xlsx]Pivot_Table!PivotTable8</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Table Booking Available</a:t>
            </a:r>
          </a:p>
        </c:rich>
      </c:tx>
      <c:layout/>
      <c:overlay val="0"/>
      <c:spPr>
        <a:noFill/>
        <a:ln>
          <a:noFill/>
        </a:ln>
        <a:effectLst/>
      </c:spPr>
    </c:title>
    <c:autoTitleDeleted val="0"/>
    <c:plotArea>
      <c:layout/>
      <c:doughnutChart>
        <c:varyColors val="1"/>
        <c:ser>
          <c:idx val="0"/>
          <c:order val="0"/>
          <c:tx>
            <c:strRef>
              <c:f>'[Zomato_Tushar (1).xlsx]Pivot_Table'!$B$188</c:f>
              <c:strCache>
                <c:ptCount val="1"/>
                <c:pt idx="0">
                  <c:v>Total</c:v>
                </c:pt>
              </c:strCache>
            </c:strRef>
          </c:tx>
          <c:spPr/>
          <c:explosion val="0"/>
          <c:dPt>
            <c:idx val="0"/>
            <c:bubble3D val="0"/>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c:spPr>
          </c:dPt>
          <c:dPt>
            <c:idx val="1"/>
            <c:bubble3D val="0"/>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'[Zomato_Tushar (1).xlsx]Pivot_Table'!$A$189:$A$191</c:f>
              <c:strCache>
                <c:ptCount val="2"/>
                <c:pt idx="0">
                  <c:v>No</c:v>
                </c:pt>
                <c:pt idx="1">
                  <c:v>Yes</c:v>
                </c:pt>
              </c:strCache>
            </c:strRef>
          </c:cat>
          <c:val>
            <c:numRef>
              <c:f>'[Zomato_Tushar (1).xlsx]Pivot_Table'!$B$189:$B$191</c:f>
              <c:numCache>
                <c:formatCode>General</c:formatCode>
                <c:ptCount val="2"/>
                <c:pt idx="0">
                  <c:v>8393</c:v>
                </c:pt>
                <c:pt idx="1">
                  <c:v>1158</c:v>
                </c:pt>
              </c:numCache>
            </c:numRef>
          </c:val>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423117430226435"/>
          <c:y val="0.482276897414512"/>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3768e70-22b2-4567-914e-6617a4d6430a}"/>
      </c:ext>
    </c:extLst>
  </c:chart>
  <c:spPr>
    <a:solidFill>
      <a:schemeClr val="bg1"/>
    </a:solid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[Zomato_Tushar (1).xlsx]Pivot_Table!PivotTable9</c:name>
    <c:fmtId val="-1"/>
  </c:pivotSource>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Provide Online Delivery</a:t>
            </a:r>
          </a:p>
        </c:rich>
      </c:tx>
      <c:layout/>
      <c:overlay val="0"/>
      <c:spPr>
        <a:noFill/>
        <a:ln>
          <a:noFill/>
        </a:ln>
        <a:effectLst/>
      </c:spPr>
    </c:title>
    <c:autoTitleDeleted val="0"/>
    <c:plotArea>
      <c:layout/>
      <c:doughnutChart>
        <c:varyColors val="1"/>
        <c:ser>
          <c:idx val="0"/>
          <c:order val="0"/>
          <c:tx>
            <c:strRef>
              <c:f>'[Zomato_Tushar (1).xlsx]Pivot_Table'!$B$209</c:f>
              <c:strCache>
                <c:ptCount val="1"/>
                <c:pt idx="0">
                  <c:v>Total</c:v>
                </c:pt>
              </c:strCache>
            </c:strRef>
          </c:tx>
          <c:spPr/>
          <c:explosion val="0"/>
          <c:dPt>
            <c:idx val="0"/>
            <c:bubble3D val="0"/>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c:spPr>
          </c:dPt>
          <c:dPt>
            <c:idx val="1"/>
            <c:bubble3D val="0"/>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'[Zomato_Tushar (1).xlsx]Pivot_Table'!$A$210:$A$212</c:f>
              <c:strCache>
                <c:ptCount val="2"/>
                <c:pt idx="0">
                  <c:v>No</c:v>
                </c:pt>
                <c:pt idx="1">
                  <c:v>Yes</c:v>
                </c:pt>
              </c:strCache>
            </c:strRef>
          </c:cat>
          <c:val>
            <c:numRef>
              <c:f>'[Zomato_Tushar (1).xlsx]Pivot_Table'!$B$210:$B$212</c:f>
              <c:numCache>
                <c:formatCode>General</c:formatCode>
                <c:ptCount val="2"/>
                <c:pt idx="0">
                  <c:v>7100</c:v>
                </c:pt>
                <c:pt idx="1">
                  <c:v>2451</c:v>
                </c:pt>
              </c:numCache>
            </c:numRef>
          </c:val>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415577557755776"/>
          <c:y val="0.485767615492301"/>
        </c:manualLayout>
      </c:layout>
      <c:overlay val="0"/>
      <c:spPr>
        <a:noFill/>
        <a:ln>
          <a:noFill/>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4cd96a8-ed8f-475c-a7df-c3310c871c1f}"/>
      </c:ext>
    </c:extLst>
  </c:chart>
  <c:spPr>
    <a:solidFill>
      <a:schemeClr val="bg1"/>
    </a:solidFill>
    <a:ln w="9525" cap="flat" cmpd="sng" algn="ctr">
      <a:noFill/>
      <a:round/>
    </a:ln>
    <a:effectLst/>
  </c:spPr>
  <c:txPr>
    <a:bodyPr/>
    <a:lstStyle/>
    <a:p>
      <a:pPr>
        <a:defRPr lang="en-US"/>
      </a:pPr>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303">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16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styleClr val="auto"/>
    </cs:effectRef>
    <cs:fontRef idx="minor">
      <a:schemeClr val="tx1"/>
    </cs:fontRef>
    <cs:spPr>
      <a:ln w="28575" cap="rnd">
        <a:solidFill>
          <a:schemeClr val="phClr"/>
        </a:solidFill>
        <a:round/>
      </a:ln>
      <a:effectLst>
        <a:outerShdw blurRad="76200" dist="25400" dir="2700000" algn="tl" rotWithShape="0">
          <a:schemeClr val="phClr">
            <a:lumMod val="50000"/>
            <a:alpha val="30000"/>
          </a:schemeClr>
        </a:outerShdw>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113">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113">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p:txBody>
      </p:sp>
      <p:sp>
        <p:nvSpPr>
          <p:cNvPr id="92" name="Shape 92"/>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p:nvPr>
            <p:ph type="title" hasCustomPrompt="1"/>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p:nvPr>
            <p:ph type="body" sz="quarter" idx="1" hasCustomPrompt="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p:nvPr>
            <p:ph type="title" hasCustomPrompt="1"/>
          </p:nvPr>
        </p:nvSpPr>
        <p:spPr>
          <a:prstGeom prst="rect">
            <a:avLst/>
          </a:prstGeom>
        </p:spPr>
        <p:txBody>
          <a:bodyPr/>
          <a:lstStyle/>
          <a:p>
            <a:r>
              <a:t>Title Text</a:t>
            </a:r>
          </a:p>
        </p:txBody>
      </p:sp>
      <p:sp>
        <p:nvSpPr>
          <p:cNvPr id="21" name="Body Level One…"/>
          <p:cNvSpPr txBox="1"/>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p:nvPr>
            <p:ph type="title" hasCustomPrompt="1"/>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p:nvPr>
            <p:ph type="body" sz="quarter" idx="1" hasCustomPrompt="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p:nvPr>
            <p:ph type="title" hasCustomPrompt="1"/>
          </p:nvPr>
        </p:nvSpPr>
        <p:spPr>
          <a:prstGeom prst="rect">
            <a:avLst/>
          </a:prstGeom>
        </p:spPr>
        <p:txBody>
          <a:bodyPr/>
          <a:lstStyle/>
          <a:p>
            <a:r>
              <a:t>Title Text</a:t>
            </a:r>
          </a:p>
        </p:txBody>
      </p:sp>
      <p:sp>
        <p:nvSpPr>
          <p:cNvPr id="39" name="Body Level One…"/>
          <p:cNvSpPr txBox="1"/>
          <p:nvPr>
            <p:ph type="body" sz="half" idx="1" hasCustomPrompt="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p:nvPr>
            <p:ph type="title" hasCustomPrompt="1"/>
          </p:nvPr>
        </p:nvSpPr>
        <p:spPr>
          <a:xfrm>
            <a:off x="839787" y="365125"/>
            <a:ext cx="10515601" cy="1325563"/>
          </a:xfrm>
          <a:prstGeom prst="rect">
            <a:avLst/>
          </a:prstGeom>
        </p:spPr>
        <p:txBody>
          <a:bodyPr/>
          <a:lstStyle/>
          <a:p>
            <a:r>
              <a:t>Title Text</a:t>
            </a:r>
          </a:p>
        </p:txBody>
      </p:sp>
      <p:sp>
        <p:nvSpPr>
          <p:cNvPr id="48" name="Body Level One…"/>
          <p:cNvSpPr txBox="1"/>
          <p:nvPr>
            <p:ph type="body" sz="quarter" idx="1" hasCustomPrompt="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sz="2400" b="1"/>
            </a:pPr>
          </a:p>
        </p:txBody>
      </p:sp>
      <p:sp>
        <p:nvSpPr>
          <p:cNvPr id="50"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p:nvPr>
            <p:ph type="title" hasCustomPrompt="1"/>
          </p:nvPr>
        </p:nvSpPr>
        <p:spPr>
          <a:prstGeom prst="rect">
            <a:avLst/>
          </a:prstGeom>
        </p:spPr>
        <p:txBody>
          <a:bodyPr/>
          <a:lstStyle/>
          <a:p>
            <a:r>
              <a:t>Title Text</a:t>
            </a:r>
          </a:p>
        </p:txBody>
      </p:sp>
      <p:sp>
        <p:nvSpPr>
          <p:cNvPr id="58"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p:nvPr>
            <p:ph type="title" hasCustomPrompt="1"/>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p:nvPr>
            <p:ph type="body" sz="half" idx="1" hasCustomPrompt="1"/>
          </p:nvPr>
        </p:nvSpPr>
        <p:spPr>
          <a:xfrm>
            <a:off x="5183187" y="987425"/>
            <a:ext cx="6172201"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p:nvPr>
            <p:ph type="title" hasCustomPrompt="1"/>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p:txBody>
      </p:sp>
      <p:sp>
        <p:nvSpPr>
          <p:cNvPr id="84" name="Body Level One…"/>
          <p:cNvSpPr txBox="1"/>
          <p:nvPr>
            <p:ph type="body" sz="quarter" idx="1" hasCustomPrompt="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p:spPr>
        <p:txBody>
          <a:bodyPr lIns="45719" rIns="45719" anchor="ctr">
            <a:normAutofit/>
          </a:bodyPr>
          <a:lstStyle/>
          <a:p>
            <a:r>
              <a:t>Title Text</a:t>
            </a:r>
          </a:p>
        </p:txBody>
      </p:sp>
      <p:sp>
        <p:nvSpPr>
          <p:cNvPr id="3" name="Body Level One…"/>
          <p:cNvSpPr txBox="1"/>
          <p:nvPr>
            <p:ph type="body" idx="1"/>
          </p:nvPr>
        </p:nvSpPr>
        <p:spPr>
          <a:xfrm>
            <a:off x="838200" y="1825625"/>
            <a:ext cx="10515600" cy="4351338"/>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panose="020B0704020202020204"/>
        <a:buChar char="•"/>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chart" Target="../charts/char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4" descr="Picture 4"/>
          <p:cNvPicPr>
            <a:picLocks noChangeAspect="1"/>
          </p:cNvPicPr>
          <p:nvPr/>
        </p:nvPicPr>
        <p:blipFill>
          <a:blip r:embed="rId1"/>
          <a:stretch>
            <a:fillRect/>
          </a:stretch>
        </p:blipFill>
        <p:spPr>
          <a:xfrm>
            <a:off x="0" y="0"/>
            <a:ext cx="6351866" cy="4831127"/>
          </a:xfrm>
          <a:prstGeom prst="rect">
            <a:avLst/>
          </a:prstGeom>
          <a:ln w="12700">
            <a:miter lim="400000"/>
            <a:headEnd/>
            <a:tailEnd/>
          </a:ln>
        </p:spPr>
      </p:pic>
      <p:sp>
        <p:nvSpPr>
          <p:cNvPr id="95" name="Title 1"/>
          <p:cNvSpPr txBox="1"/>
          <p:nvPr>
            <p:ph type="ctrTitle"/>
          </p:nvPr>
        </p:nvSpPr>
        <p:spPr>
          <a:xfrm>
            <a:off x="6722378" y="698849"/>
            <a:ext cx="5038989" cy="2387601"/>
          </a:xfrm>
          <a:prstGeom prst="rect">
            <a:avLst/>
          </a:prstGeom>
        </p:spPr>
        <p:txBody>
          <a:bodyPr/>
          <a:lstStyle/>
          <a:p>
            <a:pPr>
              <a:lnSpc>
                <a:spcPct val="100000"/>
              </a:lnSpc>
              <a:defRPr sz="2800" b="1">
                <a:solidFill>
                  <a:srgbClr val="44546A"/>
                </a:solidFill>
                <a:latin typeface="Lato"/>
                <a:ea typeface="Lato"/>
                <a:cs typeface="Lato"/>
                <a:sym typeface="Lato"/>
              </a:defRPr>
            </a:pPr>
            <a:r>
              <a:t>Spreadsheet Project:</a:t>
            </a:r>
            <a:br/>
            <a:r>
              <a:t>Zomato Restaurants Analysis</a:t>
            </a:r>
            <a:br/>
          </a:p>
        </p:txBody>
      </p:sp>
      <p:sp>
        <p:nvSpPr>
          <p:cNvPr id="96" name="Subtitle 2"/>
          <p:cNvSpPr txBox="1"/>
          <p:nvPr>
            <p:ph type="subTitle" sz="quarter" idx="1"/>
          </p:nvPr>
        </p:nvSpPr>
        <p:spPr>
          <a:xfrm>
            <a:off x="7323588" y="4503389"/>
            <a:ext cx="4868412" cy="1655762"/>
          </a:xfrm>
          <a:prstGeom prst="rect">
            <a:avLst/>
          </a:prstGeom>
        </p:spPr>
        <p:txBody>
          <a:bodyPr/>
          <a:lstStyle>
            <a:lvl1pPr algn="l">
              <a:lnSpc>
                <a:spcPct val="100000"/>
              </a:lnSpc>
              <a:spcBef>
                <a:spcPts val="0"/>
              </a:spcBef>
              <a:defRPr b="1">
                <a:solidFill>
                  <a:srgbClr val="44546A"/>
                </a:solidFill>
                <a:latin typeface="Lato"/>
                <a:ea typeface="Lato"/>
                <a:cs typeface="Lato"/>
                <a:sym typeface="Lato"/>
              </a:defRPr>
            </a:lvl1pPr>
          </a:lstStyle>
          <a:p>
            <a:r>
              <a:t>Submitted By: Tushar Naha</a:t>
            </a:r>
          </a:p>
        </p:txBody>
      </p:sp>
      <p:pic>
        <p:nvPicPr>
          <p:cNvPr id="97" name="Picture 2" descr="Picture 2"/>
          <p:cNvPicPr>
            <a:picLocks noChangeAspect="1"/>
          </p:cNvPicPr>
          <p:nvPr/>
        </p:nvPicPr>
        <p:blipFill>
          <a:blip r:embed="rId2"/>
          <a:srcRect b="9338"/>
          <a:stretch>
            <a:fillRect/>
          </a:stretch>
        </p:blipFill>
        <p:spPr>
          <a:xfrm>
            <a:off x="0" y="4831127"/>
            <a:ext cx="6409889" cy="2026873"/>
          </a:xfrm>
          <a:prstGeom prst="rect">
            <a:avLst/>
          </a:prstGeom>
          <a:ln w="12700">
            <a:miter lim="400000"/>
            <a:headEnd/>
            <a:tailEnd/>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extBox 2"/>
          <p:cNvSpPr txBox="1"/>
          <p:nvPr/>
        </p:nvSpPr>
        <p:spPr>
          <a:xfrm>
            <a:off x="2950408" y="300782"/>
            <a:ext cx="6003162"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ABOUT ZOMATO</a:t>
            </a:r>
          </a:p>
        </p:txBody>
      </p:sp>
      <p:sp>
        <p:nvSpPr>
          <p:cNvPr id="100" name="TextBox 4"/>
          <p:cNvSpPr txBox="1"/>
          <p:nvPr/>
        </p:nvSpPr>
        <p:spPr>
          <a:xfrm>
            <a:off x="348772" y="1094492"/>
            <a:ext cx="11694043" cy="760770"/>
          </a:xfrm>
          <a:prstGeom prst="rect">
            <a:avLst/>
          </a:prstGeom>
          <a:ln w="12700">
            <a:miter lim="400000"/>
          </a:ln>
        </p:spPr>
        <p:txBody>
          <a:bodyPr lIns="45719" rIns="45719">
            <a:spAutoFit/>
          </a:bodyPr>
          <a:lstStyle>
            <a:lvl1pPr>
              <a:defRPr sz="2400"/>
            </a:lvl1pPr>
          </a:lstStyle>
          <a:p>
            <a:r>
              <a:t>Zomato provides information, menus and user-reviews of restaurants as well as food delivery options from partner restaurants in more than 1,000 Indian cities and towns</a:t>
            </a:r>
          </a:p>
        </p:txBody>
      </p:sp>
      <p:pic>
        <p:nvPicPr>
          <p:cNvPr id="101" name="Picture 2" descr="Picture 2"/>
          <p:cNvPicPr>
            <a:picLocks noChangeAspect="1"/>
          </p:cNvPicPr>
          <p:nvPr/>
        </p:nvPicPr>
        <p:blipFill>
          <a:blip r:embed="rId1"/>
          <a:srcRect b="21782"/>
          <a:stretch>
            <a:fillRect/>
          </a:stretch>
        </p:blipFill>
        <p:spPr>
          <a:xfrm>
            <a:off x="0" y="2343358"/>
            <a:ext cx="12192000" cy="4542043"/>
          </a:xfrm>
          <a:prstGeom prst="rect">
            <a:avLst/>
          </a:prstGeom>
          <a:ln w="12700">
            <a:miter lim="400000"/>
            <a:headEnd/>
            <a:tailEnd/>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adroTexto 350"/>
          <p:cNvSpPr txBox="1"/>
          <p:nvPr/>
        </p:nvSpPr>
        <p:spPr>
          <a:xfrm>
            <a:off x="5002720" y="597620"/>
            <a:ext cx="2060635" cy="650241"/>
          </a:xfrm>
          <a:prstGeom prst="rect">
            <a:avLst/>
          </a:prstGeom>
          <a:ln w="12700">
            <a:miter lim="400000"/>
          </a:ln>
        </p:spPr>
        <p:txBody>
          <a:bodyPr wrap="none" lIns="45719" rIns="45719">
            <a:spAutoFit/>
          </a:bodyPr>
          <a:lstStyle>
            <a:lvl1pPr algn="ctr">
              <a:defRPr sz="3600" b="1">
                <a:solidFill>
                  <a:srgbClr val="44546A"/>
                </a:solidFill>
                <a:latin typeface="Century Gothic"/>
                <a:ea typeface="Century Gothic"/>
                <a:cs typeface="Century Gothic"/>
                <a:sym typeface="Century Gothic"/>
              </a:defRPr>
            </a:lvl1pPr>
          </a:lstStyle>
          <a:p>
            <a:r>
              <a:t>AGENDA</a:t>
            </a:r>
          </a:p>
        </p:txBody>
      </p:sp>
      <p:grpSp>
        <p:nvGrpSpPr>
          <p:cNvPr id="120" name="Group 2"/>
          <p:cNvGrpSpPr/>
          <p:nvPr/>
        </p:nvGrpSpPr>
        <p:grpSpPr>
          <a:xfrm>
            <a:off x="321501" y="1665960"/>
            <a:ext cx="11548996" cy="4111682"/>
            <a:chOff x="0" y="0"/>
            <a:chExt cx="11548994" cy="4111681"/>
          </a:xfrm>
        </p:grpSpPr>
        <p:grpSp>
          <p:nvGrpSpPr>
            <p:cNvPr id="116" name="Group 3"/>
            <p:cNvGrpSpPr/>
            <p:nvPr/>
          </p:nvGrpSpPr>
          <p:grpSpPr>
            <a:xfrm>
              <a:off x="-1" y="-1"/>
              <a:ext cx="9225596" cy="4111681"/>
              <a:chOff x="0" y="0"/>
              <a:chExt cx="9225594" cy="4111680"/>
            </a:xfrm>
          </p:grpSpPr>
          <p:sp>
            <p:nvSpPr>
              <p:cNvPr id="104" name="Rectángulo 1"/>
              <p:cNvSpPr/>
              <p:nvPr/>
            </p:nvSpPr>
            <p:spPr>
              <a:xfrm>
                <a:off x="-1" y="-1"/>
                <a:ext cx="2216513" cy="4111682"/>
              </a:xfrm>
              <a:prstGeom prst="rect">
                <a:avLst/>
              </a:prstGeom>
              <a:solidFill>
                <a:srgbClr val="E23744"/>
              </a:solidFill>
              <a:ln w="12700" cap="flat">
                <a:noFill/>
                <a:miter lim="400000"/>
              </a:ln>
              <a:effectLst/>
            </p:spPr>
            <p:txBody>
              <a:bodyPr wrap="square" lIns="45719" tIns="45719" rIns="45719" bIns="45719" numCol="1" anchor="ctr">
                <a:noAutofit/>
              </a:bodyPr>
              <a:lstStyle/>
              <a:p>
                <a:pPr algn="ctr">
                  <a:defRPr sz="800">
                    <a:solidFill>
                      <a:srgbClr val="FFFFFF"/>
                    </a:solidFill>
                  </a:defRPr>
                </a:pPr>
              </a:p>
            </p:txBody>
          </p:sp>
          <p:sp>
            <p:nvSpPr>
              <p:cNvPr id="105" name="Rectángulo 25"/>
              <p:cNvSpPr/>
              <p:nvPr/>
            </p:nvSpPr>
            <p:spPr>
              <a:xfrm>
                <a:off x="2336361" y="-1"/>
                <a:ext cx="2216513" cy="4111682"/>
              </a:xfrm>
              <a:prstGeom prst="rect">
                <a:avLst/>
              </a:prstGeom>
              <a:solidFill>
                <a:srgbClr val="C0392B"/>
              </a:solidFill>
              <a:ln w="12700" cap="flat">
                <a:noFill/>
                <a:miter lim="400000"/>
              </a:ln>
              <a:effectLst/>
            </p:spPr>
            <p:txBody>
              <a:bodyPr wrap="square" lIns="45719" tIns="45719" rIns="45719" bIns="45719" numCol="1" anchor="ctr">
                <a:noAutofit/>
              </a:bodyPr>
              <a:lstStyle/>
              <a:p>
                <a:pPr algn="ctr">
                  <a:defRPr b="1">
                    <a:solidFill>
                      <a:srgbClr val="FFFFFF"/>
                    </a:solidFill>
                  </a:defRPr>
                </a:pPr>
              </a:p>
            </p:txBody>
          </p:sp>
          <p:sp>
            <p:nvSpPr>
              <p:cNvPr id="106" name="Rectángulo 26"/>
              <p:cNvSpPr/>
              <p:nvPr/>
            </p:nvSpPr>
            <p:spPr>
              <a:xfrm>
                <a:off x="4672720" y="-1"/>
                <a:ext cx="2216513" cy="4111682"/>
              </a:xfrm>
              <a:prstGeom prst="rect">
                <a:avLst/>
              </a:prstGeom>
              <a:solidFill>
                <a:srgbClr val="E23744"/>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07" name="Rectángulo 28"/>
              <p:cNvSpPr/>
              <p:nvPr/>
            </p:nvSpPr>
            <p:spPr>
              <a:xfrm>
                <a:off x="7009082" y="-1"/>
                <a:ext cx="2216513" cy="4111682"/>
              </a:xfrm>
              <a:prstGeom prst="rect">
                <a:avLst/>
              </a:prstGeom>
              <a:solidFill>
                <a:srgbClr val="C0392B"/>
              </a:solidFill>
              <a:ln w="12700" cap="flat">
                <a:noFill/>
                <a:miter lim="400000"/>
              </a:ln>
              <a:effectLst/>
            </p:spPr>
            <p:txBody>
              <a:bodyPr wrap="square" lIns="45719" tIns="45719" rIns="45719" bIns="45719" numCol="1" anchor="ctr">
                <a:noAutofit/>
              </a:bodyPr>
              <a:lstStyle/>
              <a:p>
                <a:pPr algn="ctr">
                  <a:defRPr b="1">
                    <a:solidFill>
                      <a:srgbClr val="FFFFFF"/>
                    </a:solidFill>
                  </a:defRPr>
                </a:pPr>
              </a:p>
            </p:txBody>
          </p:sp>
          <p:sp>
            <p:nvSpPr>
              <p:cNvPr id="108" name="CuadroTexto 350"/>
              <p:cNvSpPr txBox="1"/>
              <p:nvPr/>
            </p:nvSpPr>
            <p:spPr>
              <a:xfrm>
                <a:off x="363821" y="1337930"/>
                <a:ext cx="1068609" cy="650241"/>
              </a:xfrm>
              <a:prstGeom prst="rect">
                <a:avLst/>
              </a:prstGeom>
              <a:noFill/>
              <a:ln w="12700" cap="flat">
                <a:noFill/>
                <a:miter lim="400000"/>
              </a:ln>
              <a:effectLst/>
            </p:spPr>
            <p:txBody>
              <a:bodyPr wrap="square" lIns="45719" tIns="45719" rIns="45719" bIns="45719" numCol="1" anchor="t">
                <a:spAutoFit/>
              </a:bodyPr>
              <a:lstStyle>
                <a:lvl1pPr>
                  <a:defRPr sz="3600" b="1" spc="-300">
                    <a:solidFill>
                      <a:srgbClr val="FFFFFF"/>
                    </a:solidFill>
                    <a:latin typeface="Century Gothic"/>
                    <a:ea typeface="Century Gothic"/>
                    <a:cs typeface="Century Gothic"/>
                    <a:sym typeface="Century Gothic"/>
                  </a:defRPr>
                </a:lvl1pPr>
              </a:lstStyle>
              <a:p>
                <a:r>
                  <a:t>01</a:t>
                </a:r>
              </a:p>
            </p:txBody>
          </p:sp>
          <p:sp>
            <p:nvSpPr>
              <p:cNvPr id="109" name="CuadroTexto 350"/>
              <p:cNvSpPr txBox="1"/>
              <p:nvPr/>
            </p:nvSpPr>
            <p:spPr>
              <a:xfrm>
                <a:off x="2669113" y="1287864"/>
                <a:ext cx="1068609" cy="713741"/>
              </a:xfrm>
              <a:prstGeom prst="rect">
                <a:avLst/>
              </a:prstGeom>
              <a:noFill/>
              <a:ln w="12700" cap="flat">
                <a:noFill/>
                <a:miter lim="400000"/>
              </a:ln>
              <a:effectLst/>
            </p:spPr>
            <p:txBody>
              <a:bodyPr wrap="square" lIns="45719" tIns="45719" rIns="45719" bIns="45719" numCol="1" anchor="t">
                <a:spAutoFit/>
              </a:bodyPr>
              <a:lstStyle>
                <a:lvl1pPr>
                  <a:defRPr sz="4000" b="1" spc="-300">
                    <a:solidFill>
                      <a:srgbClr val="FFFFFF"/>
                    </a:solidFill>
                    <a:latin typeface="Century Gothic"/>
                    <a:ea typeface="Century Gothic"/>
                    <a:cs typeface="Century Gothic"/>
                    <a:sym typeface="Century Gothic"/>
                  </a:defRPr>
                </a:lvl1pPr>
              </a:lstStyle>
              <a:p>
                <a:r>
                  <a:t>02</a:t>
                </a:r>
              </a:p>
            </p:txBody>
          </p:sp>
          <p:sp>
            <p:nvSpPr>
              <p:cNvPr id="110" name="CuadroTexto 350"/>
              <p:cNvSpPr txBox="1"/>
              <p:nvPr/>
            </p:nvSpPr>
            <p:spPr>
              <a:xfrm>
                <a:off x="4949173" y="1337930"/>
                <a:ext cx="1068609" cy="650241"/>
              </a:xfrm>
              <a:prstGeom prst="rect">
                <a:avLst/>
              </a:prstGeom>
              <a:noFill/>
              <a:ln w="12700" cap="flat">
                <a:noFill/>
                <a:miter lim="400000"/>
              </a:ln>
              <a:effectLst/>
            </p:spPr>
            <p:txBody>
              <a:bodyPr wrap="square" lIns="45719" tIns="45719" rIns="45719" bIns="45719" numCol="1" anchor="t">
                <a:spAutoFit/>
              </a:bodyPr>
              <a:lstStyle>
                <a:lvl1pPr>
                  <a:defRPr sz="3600" b="1" spc="-300">
                    <a:solidFill>
                      <a:srgbClr val="FFFFFF"/>
                    </a:solidFill>
                    <a:latin typeface="Century Gothic"/>
                    <a:ea typeface="Century Gothic"/>
                    <a:cs typeface="Century Gothic"/>
                    <a:sym typeface="Century Gothic"/>
                  </a:defRPr>
                </a:lvl1pPr>
              </a:lstStyle>
              <a:p>
                <a:r>
                  <a:t>03</a:t>
                </a:r>
              </a:p>
            </p:txBody>
          </p:sp>
          <p:sp>
            <p:nvSpPr>
              <p:cNvPr id="111" name="CuadroTexto 350"/>
              <p:cNvSpPr txBox="1"/>
              <p:nvPr/>
            </p:nvSpPr>
            <p:spPr>
              <a:xfrm>
                <a:off x="7341634" y="1337930"/>
                <a:ext cx="1068609" cy="650241"/>
              </a:xfrm>
              <a:prstGeom prst="rect">
                <a:avLst/>
              </a:prstGeom>
              <a:noFill/>
              <a:ln w="12700" cap="flat">
                <a:noFill/>
                <a:miter lim="400000"/>
              </a:ln>
              <a:effectLst/>
            </p:spPr>
            <p:txBody>
              <a:bodyPr wrap="square" lIns="45719" tIns="45719" rIns="45719" bIns="45719" numCol="1" anchor="t">
                <a:spAutoFit/>
              </a:bodyPr>
              <a:lstStyle>
                <a:lvl1pPr>
                  <a:defRPr sz="3600" b="1" spc="-300">
                    <a:solidFill>
                      <a:srgbClr val="FFFFFF"/>
                    </a:solidFill>
                    <a:latin typeface="Century Gothic"/>
                    <a:ea typeface="Century Gothic"/>
                    <a:cs typeface="Century Gothic"/>
                    <a:sym typeface="Century Gothic"/>
                  </a:defRPr>
                </a:lvl1pPr>
              </a:lstStyle>
              <a:p>
                <a:r>
                  <a:t>04</a:t>
                </a:r>
              </a:p>
            </p:txBody>
          </p:sp>
          <p:sp>
            <p:nvSpPr>
              <p:cNvPr id="112" name="CuadroTexto 395"/>
              <p:cNvSpPr txBox="1"/>
              <p:nvPr/>
            </p:nvSpPr>
            <p:spPr>
              <a:xfrm>
                <a:off x="363821" y="2033204"/>
                <a:ext cx="1468479" cy="701041"/>
              </a:xfrm>
              <a:prstGeom prst="rect">
                <a:avLst/>
              </a:prstGeom>
              <a:noFill/>
              <a:ln w="12700" cap="flat">
                <a:noFill/>
                <a:miter lim="400000"/>
              </a:ln>
              <a:effectLst/>
            </p:spPr>
            <p:txBody>
              <a:bodyPr wrap="square" lIns="45719" tIns="45719" rIns="45719" bIns="45719" numCol="1" anchor="t">
                <a:spAutoFit/>
              </a:bodyPr>
              <a:lstStyle>
                <a:lvl1pPr>
                  <a:defRPr sz="2000" b="1">
                    <a:solidFill>
                      <a:srgbClr val="FFFFFF"/>
                    </a:solidFill>
                    <a:latin typeface="Lato"/>
                    <a:ea typeface="Lato"/>
                    <a:cs typeface="Lato"/>
                    <a:sym typeface="Lato"/>
                  </a:defRPr>
                </a:lvl1pPr>
              </a:lstStyle>
              <a:p>
                <a:r>
                  <a:t>Problem Statement</a:t>
                </a:r>
              </a:p>
            </p:txBody>
          </p:sp>
          <p:sp>
            <p:nvSpPr>
              <p:cNvPr id="113" name="CuadroTexto 395"/>
              <p:cNvSpPr txBox="1"/>
              <p:nvPr/>
            </p:nvSpPr>
            <p:spPr>
              <a:xfrm>
                <a:off x="2673355" y="1988424"/>
                <a:ext cx="1468479" cy="1005841"/>
              </a:xfrm>
              <a:prstGeom prst="rect">
                <a:avLst/>
              </a:prstGeom>
              <a:noFill/>
              <a:ln w="12700" cap="flat">
                <a:noFill/>
                <a:miter lim="400000"/>
              </a:ln>
              <a:effectLst/>
            </p:spPr>
            <p:txBody>
              <a:bodyPr wrap="square" lIns="45719" tIns="45719" rIns="45719" bIns="45719" numCol="1" anchor="t">
                <a:spAutoFit/>
              </a:bodyPr>
              <a:lstStyle>
                <a:lvl1pPr>
                  <a:defRPr sz="2000" b="1">
                    <a:solidFill>
                      <a:srgbClr val="FFFFFF"/>
                    </a:solidFill>
                    <a:latin typeface="Lato"/>
                    <a:ea typeface="Lato"/>
                    <a:cs typeface="Lato"/>
                    <a:sym typeface="Lato"/>
                  </a:defRPr>
                </a:lvl1pPr>
              </a:lstStyle>
              <a:p>
                <a:r>
                  <a:t>Data Description</a:t>
                </a:r>
              </a:p>
            </p:txBody>
          </p:sp>
          <p:sp>
            <p:nvSpPr>
              <p:cNvPr id="114" name="CuadroTexto 395"/>
              <p:cNvSpPr txBox="1"/>
              <p:nvPr/>
            </p:nvSpPr>
            <p:spPr>
              <a:xfrm>
                <a:off x="4747748" y="1936364"/>
                <a:ext cx="1946076" cy="1097281"/>
              </a:xfrm>
              <a:prstGeom prst="rect">
                <a:avLst/>
              </a:prstGeom>
              <a:noFill/>
              <a:ln w="12700" cap="flat">
                <a:noFill/>
                <a:miter lim="400000"/>
              </a:ln>
              <a:effectLst/>
            </p:spPr>
            <p:txBody>
              <a:bodyPr wrap="square" lIns="45719" tIns="45719" rIns="45719" bIns="45719" numCol="1" anchor="t">
                <a:spAutoFit/>
              </a:bodyPr>
              <a:lstStyle>
                <a:lvl1pPr indent="114300">
                  <a:lnSpc>
                    <a:spcPct val="115000"/>
                  </a:lnSpc>
                  <a:defRPr sz="2000" b="1">
                    <a:solidFill>
                      <a:srgbClr val="FFFFFF"/>
                    </a:solidFill>
                    <a:latin typeface="Lato"/>
                    <a:ea typeface="Lato"/>
                    <a:cs typeface="Lato"/>
                    <a:sym typeface="Lato"/>
                  </a:defRPr>
                </a:lvl1pPr>
              </a:lstStyle>
              <a:p>
                <a:r>
                  <a:t>Objective Key Metrics and Visualizations</a:t>
                </a:r>
              </a:p>
            </p:txBody>
          </p:sp>
          <p:sp>
            <p:nvSpPr>
              <p:cNvPr id="115" name="CuadroTexto 395"/>
              <p:cNvSpPr txBox="1"/>
              <p:nvPr/>
            </p:nvSpPr>
            <p:spPr>
              <a:xfrm>
                <a:off x="7341634" y="1936364"/>
                <a:ext cx="1468479" cy="1310641"/>
              </a:xfrm>
              <a:prstGeom prst="rect">
                <a:avLst/>
              </a:prstGeom>
              <a:noFill/>
              <a:ln w="12700" cap="flat">
                <a:noFill/>
                <a:miter lim="400000"/>
              </a:ln>
              <a:effectLst/>
            </p:spPr>
            <p:txBody>
              <a:bodyPr wrap="square" lIns="45719" tIns="45719" rIns="45719" bIns="45719" numCol="1" anchor="t">
                <a:spAutoFit/>
              </a:bodyPr>
              <a:lstStyle>
                <a:lvl1pPr>
                  <a:defRPr sz="2000" b="1">
                    <a:solidFill>
                      <a:srgbClr val="FFFFFF"/>
                    </a:solidFill>
                    <a:latin typeface="Lato"/>
                    <a:ea typeface="Lato"/>
                    <a:cs typeface="Lato"/>
                    <a:sym typeface="Lato"/>
                  </a:defRPr>
                </a:lvl1pPr>
              </a:lstStyle>
              <a:p>
                <a:r>
                  <a:t>Insights from Subjective Question</a:t>
                </a:r>
              </a:p>
            </p:txBody>
          </p:sp>
        </p:grpSp>
        <p:sp>
          <p:nvSpPr>
            <p:cNvPr id="117" name="Rectángulo 28"/>
            <p:cNvSpPr/>
            <p:nvPr/>
          </p:nvSpPr>
          <p:spPr>
            <a:xfrm>
              <a:off x="9332483" y="0"/>
              <a:ext cx="2216512" cy="4111681"/>
            </a:xfrm>
            <a:prstGeom prst="rect">
              <a:avLst/>
            </a:prstGeom>
            <a:solidFill>
              <a:srgbClr val="E23744"/>
            </a:solidFill>
            <a:ln w="12700" cap="flat">
              <a:noFill/>
              <a:miter lim="400000"/>
            </a:ln>
            <a:effectLst/>
          </p:spPr>
          <p:txBody>
            <a:bodyPr wrap="square" lIns="45719" tIns="45719" rIns="45719" bIns="45719" numCol="1" anchor="ctr">
              <a:noAutofit/>
            </a:bodyPr>
            <a:lstStyle/>
            <a:p>
              <a:pPr algn="ctr">
                <a:defRPr b="1">
                  <a:solidFill>
                    <a:srgbClr val="FFFFFF"/>
                  </a:solidFill>
                </a:defRPr>
              </a:pPr>
            </a:p>
          </p:txBody>
        </p:sp>
        <p:sp>
          <p:nvSpPr>
            <p:cNvPr id="118" name="CuadroTexto 395"/>
            <p:cNvSpPr txBox="1"/>
            <p:nvPr/>
          </p:nvSpPr>
          <p:spPr>
            <a:xfrm>
              <a:off x="9443257" y="1963800"/>
              <a:ext cx="2030177" cy="1259841"/>
            </a:xfrm>
            <a:prstGeom prst="rect">
              <a:avLst/>
            </a:prstGeom>
            <a:noFill/>
            <a:ln w="12700" cap="flat">
              <a:noFill/>
              <a:miter lim="400000"/>
            </a:ln>
            <a:effectLst/>
          </p:spPr>
          <p:txBody>
            <a:bodyPr wrap="square" lIns="45719" tIns="45719" rIns="45719" bIns="45719" numCol="1" anchor="t">
              <a:spAutoFit/>
            </a:bodyPr>
            <a:lstStyle>
              <a:lvl1pPr>
                <a:defRPr sz="1900" b="1">
                  <a:solidFill>
                    <a:srgbClr val="FFFFFF"/>
                  </a:solidFill>
                  <a:latin typeface="Lato"/>
                  <a:ea typeface="Lato"/>
                  <a:cs typeface="Lato"/>
                  <a:sym typeface="Lato"/>
                </a:defRPr>
              </a:lvl1pPr>
            </a:lstStyle>
            <a:p>
              <a:r>
                <a:t>Strategic Recommendation and Dashboard</a:t>
              </a:r>
            </a:p>
          </p:txBody>
        </p:sp>
        <p:sp>
          <p:nvSpPr>
            <p:cNvPr id="119" name="CuadroTexto 350"/>
            <p:cNvSpPr txBox="1"/>
            <p:nvPr/>
          </p:nvSpPr>
          <p:spPr>
            <a:xfrm>
              <a:off x="9576188" y="1337930"/>
              <a:ext cx="984070" cy="650241"/>
            </a:xfrm>
            <a:prstGeom prst="rect">
              <a:avLst/>
            </a:prstGeom>
            <a:noFill/>
            <a:ln w="12700" cap="flat">
              <a:noFill/>
              <a:miter lim="400000"/>
            </a:ln>
            <a:effectLst/>
          </p:spPr>
          <p:txBody>
            <a:bodyPr wrap="square" lIns="45719" tIns="45719" rIns="45719" bIns="45719" numCol="1" anchor="t">
              <a:spAutoFit/>
            </a:bodyPr>
            <a:lstStyle>
              <a:lvl1pPr>
                <a:defRPr sz="3600" b="1" spc="-300">
                  <a:solidFill>
                    <a:srgbClr val="FFFFFF"/>
                  </a:solidFill>
                  <a:latin typeface="Century Gothic"/>
                  <a:ea typeface="Century Gothic"/>
                  <a:cs typeface="Century Gothic"/>
                  <a:sym typeface="Century Gothic"/>
                </a:defRPr>
              </a:lvl1pPr>
            </a:lstStyle>
            <a:p>
              <a:r>
                <a:t>05</a:t>
              </a: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adroTexto 350"/>
          <p:cNvSpPr txBox="1"/>
          <p:nvPr/>
        </p:nvSpPr>
        <p:spPr>
          <a:xfrm>
            <a:off x="3155855" y="242974"/>
            <a:ext cx="6100015"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PROBLEM STATEMENT</a:t>
            </a:r>
          </a:p>
        </p:txBody>
      </p:sp>
      <p:sp>
        <p:nvSpPr>
          <p:cNvPr id="123" name="TextBox 3"/>
          <p:cNvSpPr txBox="1"/>
          <p:nvPr/>
        </p:nvSpPr>
        <p:spPr>
          <a:xfrm>
            <a:off x="529297" y="1013897"/>
            <a:ext cx="11907613" cy="644982"/>
          </a:xfrm>
          <a:prstGeom prst="rect">
            <a:avLst/>
          </a:prstGeom>
          <a:ln w="12700">
            <a:miter lim="400000"/>
          </a:ln>
        </p:spPr>
        <p:txBody>
          <a:bodyPr lIns="45719" rIns="45719">
            <a:spAutoFit/>
          </a:bodyPr>
          <a:lstStyle/>
          <a:p>
            <a:pPr>
              <a:defRPr sz="2000"/>
            </a:pPr>
            <a:r>
              <a:t>You are hired as a consultant data analyst by Zomato where the team is looking for expansion and</a:t>
            </a:r>
            <a:r>
              <a:rPr b="1"/>
              <a:t> </a:t>
            </a:r>
            <a:r>
              <a:t>opening restaurants. Your task is to come up with strategies/suggestions about opening newer restaurants.</a:t>
            </a:r>
          </a:p>
        </p:txBody>
      </p:sp>
      <p:pic>
        <p:nvPicPr>
          <p:cNvPr id="124" name="pasted-movie.png" descr="pasted-movie.png"/>
          <p:cNvPicPr>
            <a:picLocks noChangeAspect="1"/>
          </p:cNvPicPr>
          <p:nvPr/>
        </p:nvPicPr>
        <p:blipFill>
          <a:blip r:embed="rId1"/>
          <a:stretch>
            <a:fillRect/>
          </a:stretch>
        </p:blipFill>
        <p:spPr>
          <a:xfrm>
            <a:off x="856347" y="1674951"/>
            <a:ext cx="10205271" cy="5070187"/>
          </a:xfrm>
          <a:prstGeom prst="rect">
            <a:avLst/>
          </a:prstGeom>
          <a:ln w="12700">
            <a:miter lim="400000"/>
            <a:headEnd/>
            <a:tailEnd/>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adroTexto 350"/>
          <p:cNvSpPr txBox="1"/>
          <p:nvPr/>
        </p:nvSpPr>
        <p:spPr>
          <a:xfrm>
            <a:off x="3045991" y="213076"/>
            <a:ext cx="6100016"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DATA DESCRIPTION</a:t>
            </a:r>
          </a:p>
        </p:txBody>
      </p:sp>
      <p:sp>
        <p:nvSpPr>
          <p:cNvPr id="127" name="TextBox 3"/>
          <p:cNvSpPr txBox="1"/>
          <p:nvPr/>
        </p:nvSpPr>
        <p:spPr>
          <a:xfrm>
            <a:off x="649729" y="1104266"/>
            <a:ext cx="11393087" cy="644983"/>
          </a:xfrm>
          <a:prstGeom prst="rect">
            <a:avLst/>
          </a:prstGeom>
          <a:ln w="12700">
            <a:miter lim="400000"/>
          </a:ln>
        </p:spPr>
        <p:txBody>
          <a:bodyPr lIns="45719" rIns="45719">
            <a:spAutoFit/>
          </a:bodyPr>
          <a:lstStyle>
            <a:lvl1pPr>
              <a:defRPr sz="2000"/>
            </a:lvl1pPr>
          </a:lstStyle>
          <a:p>
            <a:r>
              <a:t>The dataset contains information about 9,551 restaurants with 20 columns detailing various attributes of these establishments. Below is an overview of the dataset:</a:t>
            </a:r>
          </a:p>
        </p:txBody>
      </p:sp>
      <p:sp>
        <p:nvSpPr>
          <p:cNvPr id="128" name="Google Shape;79;p5"/>
          <p:cNvSpPr txBox="1"/>
          <p:nvPr/>
        </p:nvSpPr>
        <p:spPr>
          <a:xfrm>
            <a:off x="965768" y="1950788"/>
            <a:ext cx="4536002" cy="6452840"/>
          </a:xfrm>
          <a:prstGeom prst="rect">
            <a:avLst/>
          </a:prstGeom>
          <a:ln w="12700">
            <a:miter lim="400000"/>
          </a:ln>
        </p:spPr>
        <p:txBody>
          <a:bodyPr lIns="91424" tIns="91424" rIns="91424" bIns="91424">
            <a:spAutoFit/>
          </a:bodyPr>
          <a:lstStyle/>
          <a:p>
            <a:pPr marL="457200" indent="-311150">
              <a:lnSpc>
                <a:spcPct val="115000"/>
              </a:lnSpc>
              <a:buClr>
                <a:srgbClr val="000000"/>
              </a:buClr>
              <a:buSzPts val="1300"/>
              <a:buFont typeface="Helvetica"/>
              <a:buChar char="●"/>
              <a:defRPr sz="1300" b="1">
                <a:latin typeface="Lato"/>
                <a:ea typeface="Lato"/>
                <a:cs typeface="Lato"/>
                <a:sym typeface="Lato"/>
              </a:defRPr>
            </a:pPr>
            <a:r>
              <a:t>Restaurant ID: </a:t>
            </a:r>
            <a:r>
              <a:rPr b="0"/>
              <a:t>Unique identifier for each restaurant.</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Restaurant Name: </a:t>
            </a:r>
            <a:r>
              <a:rPr b="0"/>
              <a:t>The name of the restaurant.</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CountryCode: </a:t>
            </a:r>
            <a:r>
              <a:rPr b="0"/>
              <a:t>Country code of the location where the restaurant is situated.</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City: </a:t>
            </a:r>
            <a:r>
              <a:rPr b="0"/>
              <a:t>The city where the restaurant is located.</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Address: </a:t>
            </a:r>
            <a:r>
              <a:rPr b="0"/>
              <a:t>The specific address of the restaurant.</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Locality: </a:t>
            </a:r>
            <a:r>
              <a:rPr b="0"/>
              <a:t>The locality or neighbourhood where the restaurant is situated.</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Locality Verbose: </a:t>
            </a:r>
            <a:r>
              <a:rPr b="0"/>
              <a:t>Detailed information about the locality.</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Longitude: </a:t>
            </a:r>
            <a:r>
              <a:rPr b="0"/>
              <a:t>The geographical longitude coordinate of the restaurant.</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Latitude: </a:t>
            </a:r>
            <a:r>
              <a:rPr b="0"/>
              <a:t>The geographical latitude coordinate of the restaurant.</a:t>
            </a:r>
            <a:endParaRPr b="0"/>
          </a:p>
          <a:p>
            <a:pPr marL="457200" indent="-311150">
              <a:lnSpc>
                <a:spcPct val="115000"/>
              </a:lnSpc>
              <a:buClr>
                <a:srgbClr val="000000"/>
              </a:buClr>
              <a:buSzPts val="1300"/>
              <a:buFont typeface="Helvetica"/>
              <a:buChar char="●"/>
              <a:defRPr sz="1300" b="1">
                <a:latin typeface="Lato"/>
                <a:ea typeface="Lato"/>
                <a:cs typeface="Lato"/>
                <a:sym typeface="Lato"/>
              </a:defRPr>
            </a:pPr>
            <a:r>
              <a:t>Cuisines: </a:t>
            </a:r>
            <a:r>
              <a:rPr b="0"/>
              <a:t>The type of cuisine offered by the restaurant.</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Currency: </a:t>
            </a:r>
            <a:r>
              <a:rPr b="0"/>
              <a:t>The currency used for transactions in the restaurant.</a:t>
            </a:r>
            <a:endParaRPr b="0"/>
          </a:p>
          <a:p>
            <a:pPr indent="457200">
              <a:lnSpc>
                <a:spcPct val="115000"/>
              </a:lnSpc>
              <a:defRPr sz="1300">
                <a:latin typeface="Lato"/>
                <a:ea typeface="Lato"/>
                <a:cs typeface="Lato"/>
                <a:sym typeface="Lato"/>
              </a:defRPr>
            </a:pPr>
          </a:p>
          <a:p>
            <a:pPr>
              <a:lnSpc>
                <a:spcPct val="115000"/>
              </a:lnSpc>
              <a:defRPr sz="1200">
                <a:latin typeface="Lato"/>
                <a:ea typeface="Lato"/>
                <a:cs typeface="Lato"/>
                <a:sym typeface="Lato"/>
              </a:defRPr>
            </a:pPr>
          </a:p>
          <a:p>
            <a:pPr>
              <a:lnSpc>
                <a:spcPct val="115000"/>
              </a:lnSpc>
              <a:defRPr sz="1200" b="1">
                <a:latin typeface="Lato"/>
                <a:ea typeface="Lato"/>
                <a:cs typeface="Lato"/>
                <a:sym typeface="Lato"/>
              </a:defRPr>
            </a:pPr>
          </a:p>
          <a:p>
            <a:pPr indent="457200">
              <a:lnSpc>
                <a:spcPct val="115000"/>
              </a:lnSpc>
              <a:defRPr b="1">
                <a:latin typeface="Lato"/>
                <a:ea typeface="Lato"/>
                <a:cs typeface="Lato"/>
                <a:sym typeface="Lato"/>
              </a:defRPr>
            </a:pPr>
          </a:p>
          <a:p>
            <a:pPr indent="457200">
              <a:lnSpc>
                <a:spcPct val="115000"/>
              </a:lnSpc>
              <a:defRPr>
                <a:latin typeface="Lato"/>
                <a:ea typeface="Lato"/>
                <a:cs typeface="Lato"/>
                <a:sym typeface="Lato"/>
              </a:defRPr>
            </a:pPr>
          </a:p>
          <a:p>
            <a:pPr indent="457200">
              <a:lnSpc>
                <a:spcPct val="115000"/>
              </a:lnSpc>
              <a:defRPr>
                <a:latin typeface="Lato"/>
                <a:ea typeface="Lato"/>
                <a:cs typeface="Lato"/>
                <a:sym typeface="Lato"/>
              </a:defRPr>
            </a:pPr>
          </a:p>
          <a:p>
            <a:pPr>
              <a:defRPr>
                <a:latin typeface="Lato"/>
                <a:ea typeface="Lato"/>
                <a:cs typeface="Lato"/>
                <a:sym typeface="Lato"/>
              </a:defRPr>
            </a:pPr>
          </a:p>
        </p:txBody>
      </p:sp>
      <p:sp>
        <p:nvSpPr>
          <p:cNvPr id="129" name="Google Shape;80;p5"/>
          <p:cNvSpPr txBox="1"/>
          <p:nvPr/>
        </p:nvSpPr>
        <p:spPr>
          <a:xfrm>
            <a:off x="6228827" y="1950788"/>
            <a:ext cx="4407001" cy="4245581"/>
          </a:xfrm>
          <a:prstGeom prst="rect">
            <a:avLst/>
          </a:prstGeom>
          <a:ln w="12700">
            <a:miter lim="400000"/>
          </a:ln>
        </p:spPr>
        <p:txBody>
          <a:bodyPr lIns="91424" tIns="91424" rIns="91424" bIns="91424">
            <a:spAutoFit/>
          </a:bodyPr>
          <a:lstStyle/>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Has_Table_booking: </a:t>
            </a:r>
            <a:r>
              <a:rPr b="0"/>
              <a:t>Indicates whether the restaurant has a table booking option (Yes/No).</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Has_Online_delivery: </a:t>
            </a:r>
            <a:r>
              <a:rPr b="0"/>
              <a:t>Indicates whether the restaurant offers online delivery (Yes/No).</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Is_delivering_now: </a:t>
            </a:r>
            <a:r>
              <a:rPr b="0"/>
              <a:t>Indicates whether the restaurant is currently delivering (Yes/No).</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Switch_to_order_menu: </a:t>
            </a:r>
            <a:r>
              <a:rPr b="0"/>
              <a:t>Indicates whether users can switch to the order menu (Yes/No).</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Price_range: </a:t>
            </a:r>
            <a:r>
              <a:rPr b="0"/>
              <a:t>A numeric value indicating the price range category of the restaurant.</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Votes: </a:t>
            </a:r>
            <a:r>
              <a:rPr b="0"/>
              <a:t>The number of votes or ratings/(feedback) received by the restaurant.</a:t>
            </a:r>
            <a:endParaRPr b="0"/>
          </a:p>
          <a:p>
            <a:pPr marL="457200" indent="-311150">
              <a:lnSpc>
                <a:spcPct val="115000"/>
              </a:lnSpc>
              <a:buClr>
                <a:srgbClr val="000000"/>
              </a:buClr>
              <a:buSzPts val="1300"/>
              <a:buFont typeface="Arial" panose="020B0704020202020204"/>
              <a:buChar char="●"/>
              <a:defRPr sz="1300" b="1">
                <a:latin typeface="Lato"/>
                <a:ea typeface="Lato"/>
                <a:cs typeface="Lato"/>
                <a:sym typeface="Lato"/>
              </a:defRPr>
            </a:pPr>
            <a:r>
              <a:t>Average_Cost_for_two: </a:t>
            </a:r>
            <a:r>
              <a:rPr b="0"/>
              <a:t>The average cost for two people dining at the restaurant.</a:t>
            </a:r>
            <a:endParaRPr b="0"/>
          </a:p>
          <a:p>
            <a:pPr marL="457200" indent="-304800">
              <a:lnSpc>
                <a:spcPct val="115000"/>
              </a:lnSpc>
              <a:buClr>
                <a:srgbClr val="000000"/>
              </a:buClr>
              <a:buSzPts val="1200"/>
              <a:buFont typeface="Helvetica"/>
              <a:buChar char="●"/>
              <a:defRPr sz="1200" b="1">
                <a:latin typeface="Lato"/>
                <a:ea typeface="Lato"/>
                <a:cs typeface="Lato"/>
                <a:sym typeface="Lato"/>
              </a:defRPr>
            </a:pPr>
            <a:r>
              <a:t>Rating: </a:t>
            </a:r>
            <a:r>
              <a:rPr b="0"/>
              <a:t>The overall rating of the restaurant is based on user reviews.</a:t>
            </a:r>
            <a:endParaRPr b="0"/>
          </a:p>
          <a:p>
            <a:pPr marL="457200" indent="-304800">
              <a:lnSpc>
                <a:spcPct val="115000"/>
              </a:lnSpc>
              <a:buClr>
                <a:srgbClr val="000000"/>
              </a:buClr>
              <a:buSzPts val="1200"/>
              <a:buFont typeface="Helvetica"/>
              <a:buChar char="●"/>
              <a:defRPr sz="1200" b="1">
                <a:latin typeface="Lato"/>
                <a:ea typeface="Lato"/>
                <a:cs typeface="Lato"/>
                <a:sym typeface="Lato"/>
              </a:defRPr>
            </a:pPr>
            <a:r>
              <a:t>Datekey_opening: </a:t>
            </a:r>
            <a:r>
              <a:rPr b="0"/>
              <a:t>The date when the restaurant was opened.</a:t>
            </a:r>
            <a:endParaRPr b="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1" name="Table 2"/>
          <p:cNvGraphicFramePr/>
          <p:nvPr/>
        </p:nvGraphicFramePr>
        <p:xfrm>
          <a:off x="357054" y="2235592"/>
          <a:ext cx="5544813" cy="2444695"/>
        </p:xfrm>
        <a:graphic>
          <a:graphicData uri="http://schemas.openxmlformats.org/drawingml/2006/table">
            <a:tbl>
              <a:tblPr firstRow="1">
                <a:tableStyleId>{4C3C2611-4C71-4FC5-86AE-919BDF0F9419}</a:tableStyleId>
              </a:tblPr>
              <a:tblGrid>
                <a:gridCol w="2183191"/>
                <a:gridCol w="3361620"/>
              </a:tblGrid>
              <a:tr h="349242">
                <a:tc>
                  <a:txBody>
                    <a:bodyPr/>
                    <a:lstStyle/>
                    <a:p>
                      <a:pPr algn="l">
                        <a:defRPr sz="1800" b="0"/>
                      </a:pPr>
                      <a:r>
                        <a:rPr b="1">
                          <a:solidFill>
                            <a:srgbClr val="FFFFFF"/>
                          </a:solidFill>
                        </a:rPr>
                        <a:t>Total restaurants</a:t>
                      </a:r>
                      <a:endParaRPr b="1">
                        <a:solidFill>
                          <a:srgbClr val="FFFFFF"/>
                        </a:solidFill>
                      </a:endParaRP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solidFill>
                      <a:srgbClr val="000000"/>
                    </a:solidFill>
                  </a:tcPr>
                </a:tc>
                <a:tc>
                  <a:txBody>
                    <a:bodyPr/>
                    <a:lstStyle/>
                    <a:p>
                      <a:pPr algn="l">
                        <a:defRPr sz="1800" b="0"/>
                      </a:pPr>
                      <a:r>
                        <a:rPr b="1">
                          <a:solidFill>
                            <a:srgbClr val="FFFFFF"/>
                          </a:solidFill>
                        </a:rPr>
                        <a:t>9551</a:t>
                      </a:r>
                      <a:endParaRPr b="1">
                        <a:solidFill>
                          <a:srgbClr val="FFFFFF"/>
                        </a:solidFill>
                      </a:endParaRP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solidFill>
                      <a:srgbClr val="000000"/>
                    </a:solidFill>
                  </a:tcPr>
                </a:tc>
              </a:tr>
              <a:tr h="349242">
                <a:tc>
                  <a:txBody>
                    <a:bodyPr/>
                    <a:lstStyle/>
                    <a:p>
                      <a:pPr algn="l">
                        <a:defRPr sz="1800"/>
                      </a:pPr>
                      <a:r>
                        <a:t>Total Country</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15</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r h="349242">
                <a:tc>
                  <a:txBody>
                    <a:bodyPr/>
                    <a:lstStyle/>
                    <a:p>
                      <a:pPr algn="l">
                        <a:defRPr sz="1800"/>
                      </a:pPr>
                      <a:r>
                        <a:t>Total Cities</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139</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r h="349242">
                <a:tc>
                  <a:txBody>
                    <a:bodyPr/>
                    <a:lstStyle/>
                    <a:p>
                      <a:pPr algn="l">
                        <a:defRPr sz="1800"/>
                      </a:pPr>
                      <a:r>
                        <a:t>Total Cuisines</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1825</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r h="349242">
                <a:tc>
                  <a:txBody>
                    <a:bodyPr/>
                    <a:lstStyle/>
                    <a:p>
                      <a:pPr algn="l">
                        <a:defRPr sz="1800"/>
                      </a:pPr>
                      <a:r>
                        <a:t>Service offered</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Table booking , Online Delivery</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r h="349242">
                <a:tc>
                  <a:txBody>
                    <a:bodyPr/>
                    <a:lstStyle/>
                    <a:p>
                      <a:pPr algn="l">
                        <a:defRPr sz="1800"/>
                      </a:pPr>
                      <a:r>
                        <a:t>Average Rating </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2.9</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r h="349242">
                <a:tc>
                  <a:txBody>
                    <a:bodyPr/>
                    <a:lstStyle/>
                    <a:p>
                      <a:pPr algn="l">
                        <a:defRPr sz="1800"/>
                      </a:pPr>
                      <a:r>
                        <a:t>Average Price in INR</a:t>
                      </a:r>
                    </a:p>
                  </a:txBody>
                  <a:tcPr marL="45720" marR="45720" anchor="t" anchorCtr="0" horzOverflow="overflow">
                    <a:lnL w="6350">
                      <a:solidFill>
                        <a:srgbClr val="000000"/>
                      </a:solidFill>
                      <a:miter/>
                    </a:lnL>
                    <a:lnR w="12700">
                      <a:miter lim="400000"/>
                    </a:lnR>
                    <a:lnT w="6350">
                      <a:solidFill>
                        <a:srgbClr val="000000"/>
                      </a:solidFill>
                      <a:miter/>
                    </a:lnT>
                    <a:lnB w="6350">
                      <a:solidFill>
                        <a:srgbClr val="000000"/>
                      </a:solidFill>
                      <a:miter/>
                    </a:lnB>
                    <a:noFill/>
                  </a:tcPr>
                </a:tc>
                <a:tc>
                  <a:txBody>
                    <a:bodyPr/>
                    <a:lstStyle/>
                    <a:p>
                      <a:pPr algn="l">
                        <a:defRPr sz="1800"/>
                      </a:pPr>
                      <a:r>
                        <a:t>Rs. 828</a:t>
                      </a:r>
                    </a:p>
                  </a:txBody>
                  <a:tcPr marL="45720" marR="45720" anchor="t" anchorCtr="0" horzOverflow="overflow">
                    <a:lnL w="12700">
                      <a:miter lim="400000"/>
                    </a:lnL>
                    <a:lnR w="6350">
                      <a:solidFill>
                        <a:srgbClr val="000000"/>
                      </a:solidFill>
                      <a:miter/>
                    </a:lnR>
                    <a:lnT w="6350">
                      <a:solidFill>
                        <a:srgbClr val="000000"/>
                      </a:solidFill>
                      <a:miter/>
                    </a:lnT>
                    <a:lnB w="6350">
                      <a:solidFill>
                        <a:srgbClr val="000000"/>
                      </a:solidFill>
                      <a:miter/>
                    </a:lnB>
                    <a:noFill/>
                  </a:tcPr>
                </a:tc>
              </a:tr>
            </a:tbl>
          </a:graphicData>
        </a:graphic>
      </p:graphicFrame>
      <p:sp>
        <p:nvSpPr>
          <p:cNvPr id="132" name="TextBox 3"/>
          <p:cNvSpPr txBox="1"/>
          <p:nvPr/>
        </p:nvSpPr>
        <p:spPr>
          <a:xfrm>
            <a:off x="6272355" y="71432"/>
            <a:ext cx="5699760" cy="7350582"/>
          </a:xfrm>
          <a:prstGeom prst="rect">
            <a:avLst/>
          </a:prstGeom>
          <a:ln w="12700">
            <a:miter lim="400000"/>
          </a:ln>
        </p:spPr>
        <p:txBody>
          <a:bodyPr lIns="45719" rIns="45719">
            <a:spAutoFit/>
          </a:bodyPr>
          <a:lstStyle/>
          <a:p>
            <a:pPr>
              <a:defRPr sz="2000"/>
            </a:pPr>
          </a:p>
          <a:p>
            <a:pPr marL="457200" indent="-457200">
              <a:buSzPct val="100000"/>
              <a:buAutoNum type="arabicPeriod"/>
              <a:defRPr sz="2000" b="1"/>
            </a:pPr>
            <a:r>
              <a:t>Detailed Restaurant Information:</a:t>
            </a:r>
          </a:p>
          <a:p>
            <a:pPr>
              <a:defRPr sz="2000"/>
            </a:pPr>
            <a:r>
              <a:t>Covers IDs, names, addresses, and locations.</a:t>
            </a:r>
          </a:p>
          <a:p>
            <a:pPr>
              <a:defRPr sz="2000"/>
            </a:pPr>
          </a:p>
          <a:p>
            <a:pPr>
              <a:defRPr sz="2000" b="1"/>
            </a:pPr>
            <a:r>
              <a:t>2</a:t>
            </a:r>
            <a:r>
              <a:rPr b="0"/>
              <a:t>. </a:t>
            </a:r>
            <a:r>
              <a:t>Geographical Data: </a:t>
            </a:r>
          </a:p>
          <a:p>
            <a:pPr>
              <a:defRPr sz="2000"/>
            </a:pPr>
            <a:r>
              <a:t>Provides longitude and latitude for precise location mapping.</a:t>
            </a:r>
          </a:p>
          <a:p>
            <a:pPr>
              <a:defRPr sz="2000"/>
            </a:pPr>
          </a:p>
          <a:p>
            <a:pPr>
              <a:defRPr sz="2000" b="1"/>
            </a:pPr>
            <a:r>
              <a:t>3. Categorical Data: </a:t>
            </a:r>
          </a:p>
          <a:p>
            <a:pPr>
              <a:defRPr sz="2000"/>
            </a:pPr>
            <a:r>
              <a:t>Includes location (CountryCode, City), cuisine types, and currency.</a:t>
            </a:r>
          </a:p>
          <a:p>
            <a:pPr>
              <a:defRPr sz="2000"/>
            </a:pPr>
          </a:p>
          <a:p>
            <a:pPr>
              <a:defRPr sz="2000" b="1"/>
            </a:pPr>
            <a:r>
              <a:t>4. Service Indicators: </a:t>
            </a:r>
          </a:p>
          <a:p>
            <a:pPr>
              <a:defRPr sz="2000"/>
            </a:pPr>
            <a:r>
              <a:t>Shows availability of table booking, online delivery, and current delivery status.</a:t>
            </a:r>
          </a:p>
          <a:p>
            <a:pPr>
              <a:defRPr sz="2000"/>
            </a:pPr>
          </a:p>
          <a:p>
            <a:pPr>
              <a:defRPr sz="2000" b="1"/>
            </a:pPr>
            <a:r>
              <a:t>5. Financial Metrics: </a:t>
            </a:r>
          </a:p>
          <a:p>
            <a:pPr>
              <a:defRPr sz="2000"/>
            </a:pPr>
            <a:r>
              <a:t>Contains price range, average cost for two, and rating.</a:t>
            </a:r>
          </a:p>
          <a:p>
            <a:pPr>
              <a:defRPr sz="2000"/>
            </a:pPr>
          </a:p>
          <a:p>
            <a:pPr>
              <a:defRPr sz="2000" b="1"/>
            </a:pPr>
            <a:r>
              <a:t>6. Temporal Aspect: </a:t>
            </a:r>
          </a:p>
          <a:p>
            <a:pPr>
              <a:defRPr sz="2000"/>
            </a:pPr>
            <a:r>
              <a:t>Includes the opening date of each restaurant.</a:t>
            </a:r>
          </a:p>
          <a:p>
            <a:pPr>
              <a:defRPr sz="2000"/>
            </a:pPr>
          </a:p>
          <a:p>
            <a:pPr>
              <a:defRPr sz="2000"/>
            </a:pPr>
          </a:p>
        </p:txBody>
      </p:sp>
      <p:sp>
        <p:nvSpPr>
          <p:cNvPr id="133" name="CuadroTexto 350"/>
          <p:cNvSpPr txBox="1"/>
          <p:nvPr/>
        </p:nvSpPr>
        <p:spPr>
          <a:xfrm>
            <a:off x="69301" y="1632582"/>
            <a:ext cx="6100016"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DATA SNAPSHOT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
          <p:cNvSpPr txBox="1"/>
          <p:nvPr/>
        </p:nvSpPr>
        <p:spPr>
          <a:xfrm>
            <a:off x="5961370" y="336433"/>
            <a:ext cx="5812999" cy="1247489"/>
          </a:xfrm>
          <a:prstGeom prst="rect">
            <a:avLst/>
          </a:prstGeom>
          <a:ln w="12700">
            <a:miter lim="400000"/>
          </a:ln>
        </p:spPr>
        <p:txBody>
          <a:bodyPr lIns="45719" rIns="45719">
            <a:spAutoFit/>
          </a:bodyPr>
          <a:lstStyle/>
          <a:p>
            <a:pPr>
              <a:defRPr sz="2000" b="1"/>
            </a:pPr>
            <a:r>
              <a:t>Data Cleaning</a:t>
            </a:r>
          </a:p>
          <a:p>
            <a:pPr marL="342900" indent="-342900">
              <a:buSzPct val="100000"/>
              <a:buFont typeface="Arial" panose="020B0704020202020204"/>
              <a:buChar char="•"/>
              <a:defRPr sz="2000"/>
            </a:pPr>
            <a:r>
              <a:t>Removed the rows with missing Cuisines.</a:t>
            </a:r>
          </a:p>
          <a:p>
            <a:pPr marL="342900" indent="-342900">
              <a:buSzPct val="100000"/>
              <a:buFont typeface="Arial" panose="020B0704020202020204"/>
              <a:buChar char="•"/>
              <a:defRPr sz="2000"/>
            </a:pPr>
            <a:r>
              <a:t>Removed the rows having Average price for two = 0.</a:t>
            </a:r>
          </a:p>
        </p:txBody>
      </p:sp>
      <p:sp>
        <p:nvSpPr>
          <p:cNvPr id="136" name="TextBox 2"/>
          <p:cNvSpPr txBox="1"/>
          <p:nvPr/>
        </p:nvSpPr>
        <p:spPr>
          <a:xfrm>
            <a:off x="5961371" y="1843362"/>
            <a:ext cx="5938833" cy="4600288"/>
          </a:xfrm>
          <a:prstGeom prst="rect">
            <a:avLst/>
          </a:prstGeom>
          <a:ln w="12700">
            <a:miter lim="400000"/>
          </a:ln>
        </p:spPr>
        <p:txBody>
          <a:bodyPr lIns="45719" rIns="45719">
            <a:spAutoFit/>
          </a:bodyPr>
          <a:lstStyle/>
          <a:p>
            <a:pPr>
              <a:defRPr sz="2000" b="1"/>
            </a:pPr>
            <a:r>
              <a:t>Pre-processing:</a:t>
            </a:r>
          </a:p>
          <a:p>
            <a:pPr marL="342900" indent="-342900">
              <a:buSzPct val="100000"/>
              <a:buFont typeface="Arial" panose="020B0704020202020204"/>
              <a:buChar char="•"/>
              <a:defRPr sz="2000"/>
            </a:pPr>
            <a:r>
              <a:t>Corrected cities name spellings in the city column by creating a new corrected_city column using V-Look Up</a:t>
            </a:r>
          </a:p>
          <a:p>
            <a:pPr>
              <a:defRPr sz="2000"/>
            </a:pPr>
          </a:p>
          <a:p>
            <a:pPr marL="342900" indent="-342900">
              <a:buSzPct val="100000"/>
              <a:buFont typeface="Arial" panose="020B0704020202020204"/>
              <a:buChar char="•"/>
              <a:defRPr sz="2000"/>
            </a:pPr>
            <a:r>
              <a:t>Added the country for respective country code using V-lookup Function</a:t>
            </a:r>
          </a:p>
          <a:p>
            <a:pPr marL="342900" indent="-342900">
              <a:buSzPct val="100000"/>
              <a:buFont typeface="Arial" panose="020B0704020202020204"/>
              <a:buChar char="•"/>
              <a:defRPr sz="2000"/>
            </a:pPr>
          </a:p>
          <a:p>
            <a:pPr marL="342900" indent="-342900">
              <a:buSzPct val="100000"/>
              <a:buFont typeface="Arial" panose="020B0704020202020204"/>
              <a:buChar char="•"/>
              <a:defRPr sz="2000"/>
            </a:pPr>
            <a:r>
              <a:t>Changed all the ‘average price for two’ currency into INR and then categorized them under Range in new column ‘Average_Cost_for_Two_INR’</a:t>
            </a:r>
          </a:p>
          <a:p>
            <a:pPr marL="342900" indent="-342900">
              <a:buSzPct val="100000"/>
              <a:buFont typeface="Arial" panose="020B0704020202020204"/>
              <a:buChar char="•"/>
              <a:defRPr sz="2000"/>
            </a:pPr>
          </a:p>
          <a:p>
            <a:pPr marL="342900" indent="-342900">
              <a:buSzPct val="100000"/>
              <a:buFont typeface="Arial" panose="020B0704020202020204"/>
              <a:buChar char="•"/>
              <a:defRPr sz="2000"/>
            </a:pPr>
            <a:r>
              <a:t> Extracted the opening year,  ‘Date key opening’ using TEXT function</a:t>
            </a:r>
          </a:p>
        </p:txBody>
      </p:sp>
      <p:pic>
        <p:nvPicPr>
          <p:cNvPr id="137" name="Picture 2" descr="Picture 2"/>
          <p:cNvPicPr>
            <a:picLocks noChangeAspect="1"/>
          </p:cNvPicPr>
          <p:nvPr/>
        </p:nvPicPr>
        <p:blipFill>
          <a:blip r:embed="rId1"/>
          <a:stretch>
            <a:fillRect/>
          </a:stretch>
        </p:blipFill>
        <p:spPr>
          <a:xfrm>
            <a:off x="1" y="0"/>
            <a:ext cx="5729681" cy="6858000"/>
          </a:xfrm>
          <a:prstGeom prst="rect">
            <a:avLst/>
          </a:prstGeom>
          <a:ln w="12700">
            <a:miter lim="400000"/>
            <a:headEnd/>
            <a:tailEnd/>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Box 1"/>
          <p:cNvSpPr txBox="1"/>
          <p:nvPr/>
        </p:nvSpPr>
        <p:spPr>
          <a:xfrm>
            <a:off x="5389509" y="1228397"/>
            <a:ext cx="6208232" cy="4302582"/>
          </a:xfrm>
          <a:prstGeom prst="rect">
            <a:avLst/>
          </a:prstGeom>
          <a:ln w="12700">
            <a:miter lim="400000"/>
          </a:ln>
        </p:spPr>
        <p:txBody>
          <a:bodyPr lIns="45719" rIns="45719">
            <a:spAutoFit/>
          </a:bodyPr>
          <a:lstStyle/>
          <a:p>
            <a:pPr marL="342900" indent="-342900">
              <a:buSzPct val="100000"/>
              <a:buFont typeface="Arial" panose="020B0704020202020204"/>
              <a:buChar char="•"/>
              <a:defRPr sz="2000" b="1"/>
            </a:pPr>
            <a:r>
              <a:t>DATA CLEANING</a:t>
            </a:r>
            <a:r>
              <a:rPr b="0"/>
              <a:t>: Used TRIM function, Conditional Formatting, Removed missing data to make data accurate</a:t>
            </a:r>
            <a:endParaRPr b="0"/>
          </a:p>
          <a:p>
            <a:pPr marL="342900" indent="-342900">
              <a:buSzPct val="100000"/>
              <a:buFont typeface="Arial" panose="020B0704020202020204"/>
              <a:buChar char="•"/>
              <a:defRPr sz="2000"/>
            </a:pPr>
          </a:p>
          <a:p>
            <a:pPr marL="342900" indent="-342900">
              <a:buSzPct val="100000"/>
              <a:buFont typeface="Arial" panose="020B0704020202020204"/>
              <a:buChar char="•"/>
              <a:defRPr sz="2000" b="1"/>
            </a:pPr>
            <a:r>
              <a:t>DATA ENRICHMENT</a:t>
            </a:r>
            <a:r>
              <a:rPr b="0"/>
              <a:t>: Used TEXT function, V-lookup to add few columns to better efficiently understanding the data.</a:t>
            </a:r>
            <a:endParaRPr b="0"/>
          </a:p>
          <a:p>
            <a:pPr marL="342900" indent="-342900">
              <a:buSzPct val="100000"/>
              <a:buFont typeface="Arial" panose="020B0704020202020204"/>
              <a:buChar char="•"/>
              <a:defRPr sz="2000"/>
            </a:pPr>
          </a:p>
          <a:p>
            <a:pPr marL="342900" indent="-342900">
              <a:buSzPct val="100000"/>
              <a:buFont typeface="Arial" panose="020B0704020202020204"/>
              <a:buChar char="•"/>
              <a:defRPr sz="2000" b="1"/>
            </a:pPr>
            <a:r>
              <a:t>DESCRIPTIVE ANALYSIS</a:t>
            </a:r>
            <a:r>
              <a:rPr b="0"/>
              <a:t>: Used PIVOT TABLES understand the country- wise, cuisines wise, price wise, rating wise data</a:t>
            </a:r>
            <a:endParaRPr b="0"/>
          </a:p>
          <a:p>
            <a:pPr marL="342900" indent="-342900">
              <a:buSzPct val="100000"/>
              <a:buFont typeface="Arial" panose="020B0704020202020204"/>
              <a:buChar char="•"/>
              <a:defRPr sz="2000"/>
            </a:pPr>
          </a:p>
          <a:p>
            <a:pPr marL="342900" indent="-342900">
              <a:buSzPct val="100000"/>
              <a:buFont typeface="Arial" panose="020B0704020202020204"/>
              <a:buChar char="•"/>
              <a:defRPr sz="2000" b="1"/>
            </a:pPr>
            <a:r>
              <a:t>VISUALIZATION</a:t>
            </a:r>
            <a:r>
              <a:rPr b="0"/>
              <a:t>: Created different types of chart for data representation and data exploration</a:t>
            </a:r>
            <a:endParaRPr b="0"/>
          </a:p>
        </p:txBody>
      </p:sp>
      <p:pic>
        <p:nvPicPr>
          <p:cNvPr id="140" name="Picture 2" descr="Picture 2"/>
          <p:cNvPicPr>
            <a:picLocks noChangeAspect="1"/>
          </p:cNvPicPr>
          <p:nvPr/>
        </p:nvPicPr>
        <p:blipFill>
          <a:blip r:embed="rId1"/>
          <a:srcRect b="17798"/>
          <a:stretch>
            <a:fillRect/>
          </a:stretch>
        </p:blipFill>
        <p:spPr>
          <a:xfrm>
            <a:off x="665988" y="1080620"/>
            <a:ext cx="4560355" cy="4784156"/>
          </a:xfrm>
          <a:prstGeom prst="rect">
            <a:avLst/>
          </a:prstGeom>
          <a:ln w="12700">
            <a:miter lim="400000"/>
            <a:headEnd/>
            <a:tailEnd/>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adroTexto 350"/>
          <p:cNvSpPr txBox="1"/>
          <p:nvPr/>
        </p:nvSpPr>
        <p:spPr>
          <a:xfrm>
            <a:off x="521174" y="206757"/>
            <a:ext cx="11507662"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KEY METRICS AND VISUALIZATION</a:t>
            </a:r>
          </a:p>
        </p:txBody>
      </p:sp>
      <p:sp>
        <p:nvSpPr>
          <p:cNvPr id="143" name="TextBox 2"/>
          <p:cNvSpPr txBox="1"/>
          <p:nvPr/>
        </p:nvSpPr>
        <p:spPr>
          <a:xfrm>
            <a:off x="7789521" y="1824626"/>
            <a:ext cx="10164856" cy="340182"/>
          </a:xfrm>
          <a:prstGeom prst="rect">
            <a:avLst/>
          </a:prstGeom>
          <a:ln w="12700">
            <a:miter lim="400000"/>
          </a:ln>
        </p:spPr>
        <p:txBody>
          <a:bodyPr lIns="45719" rIns="45719">
            <a:spAutoFit/>
          </a:bodyPr>
          <a:lstStyle>
            <a:lvl1pPr>
              <a:defRPr sz="2000" b="1" u="sng">
                <a:solidFill>
                  <a:srgbClr val="8FAADC"/>
                </a:solidFill>
              </a:defRPr>
            </a:lvl1pPr>
          </a:lstStyle>
          <a:p>
            <a:r>
              <a:t>NUMBER OF VOTERS</a:t>
            </a:r>
          </a:p>
        </p:txBody>
      </p:sp>
      <p:sp>
        <p:nvSpPr>
          <p:cNvPr id="144" name="TextBox 3"/>
          <p:cNvSpPr txBox="1"/>
          <p:nvPr/>
        </p:nvSpPr>
        <p:spPr>
          <a:xfrm>
            <a:off x="6456674" y="2224735"/>
            <a:ext cx="5306428" cy="1559383"/>
          </a:xfrm>
          <a:prstGeom prst="rect">
            <a:avLst/>
          </a:prstGeom>
          <a:ln w="12700">
            <a:miter lim="400000"/>
          </a:ln>
        </p:spPr>
        <p:txBody>
          <a:bodyPr lIns="45719" rIns="45719">
            <a:spAutoFit/>
          </a:bodyPr>
          <a:lstStyle>
            <a:lvl1pPr>
              <a:defRPr sz="2000">
                <a:solidFill>
                  <a:srgbClr val="181717"/>
                </a:solidFill>
              </a:defRPr>
            </a:lvl1pPr>
          </a:lstStyle>
          <a:p>
            <a:r>
              <a:t>Evaluated operational aspects such as the average number of voters per restaurant by country, providing a comparative analysis of customer engagement.</a:t>
            </a:r>
          </a:p>
        </p:txBody>
      </p:sp>
      <p:sp>
        <p:nvSpPr>
          <p:cNvPr id="145" name="TextBox 6"/>
          <p:cNvSpPr txBox="1"/>
          <p:nvPr/>
        </p:nvSpPr>
        <p:spPr>
          <a:xfrm>
            <a:off x="6456674" y="3808946"/>
            <a:ext cx="5885985" cy="2156283"/>
          </a:xfrm>
          <a:prstGeom prst="rect">
            <a:avLst/>
          </a:prstGeom>
          <a:ln w="12700">
            <a:miter lim="400000"/>
          </a:ln>
        </p:spPr>
        <p:txBody>
          <a:bodyPr lIns="45719" rIns="45719">
            <a:spAutoFit/>
          </a:bodyPr>
          <a:lstStyle/>
          <a:p>
            <a:pPr>
              <a:defRPr>
                <a:solidFill>
                  <a:srgbClr val="181717"/>
                </a:solidFill>
              </a:defRPr>
            </a:pPr>
          </a:p>
          <a:p>
            <a:pPr>
              <a:defRPr sz="2000">
                <a:solidFill>
                  <a:srgbClr val="181717"/>
                </a:solidFill>
              </a:defRPr>
            </a:pPr>
            <a:r>
              <a:t>Countries with high no. of voters  depicts higher interaction with customers.</a:t>
            </a:r>
          </a:p>
          <a:p>
            <a:pPr>
              <a:defRPr sz="2000">
                <a:solidFill>
                  <a:srgbClr val="181717"/>
                </a:solidFill>
              </a:defRPr>
            </a:pPr>
            <a:r>
              <a:t>Like : Indonesia</a:t>
            </a:r>
            <a:br/>
            <a:r>
              <a:t>          Turkey</a:t>
            </a:r>
          </a:p>
          <a:p>
            <a:pPr lvl="1">
              <a:defRPr sz="2000">
                <a:solidFill>
                  <a:srgbClr val="181717"/>
                </a:solidFill>
              </a:defRPr>
            </a:pPr>
            <a:r>
              <a:t>  United Arab Emirates</a:t>
            </a:r>
          </a:p>
          <a:p>
            <a:pPr lvl="1">
              <a:defRPr sz="2000">
                <a:solidFill>
                  <a:srgbClr val="181717"/>
                </a:solidFill>
              </a:defRPr>
            </a:pPr>
            <a:r>
              <a:t>  Philippines</a:t>
            </a:r>
          </a:p>
        </p:txBody>
      </p:sp>
      <p:pic>
        <p:nvPicPr>
          <p:cNvPr id="146" name="pasted-movie.png" descr="pasted-movie.png"/>
          <p:cNvPicPr>
            <a:picLocks noChangeAspect="1"/>
          </p:cNvPicPr>
          <p:nvPr/>
        </p:nvPicPr>
        <p:blipFill>
          <a:blip r:embed="rId1"/>
          <a:stretch>
            <a:fillRect/>
          </a:stretch>
        </p:blipFill>
        <p:spPr>
          <a:xfrm>
            <a:off x="19050" y="1854179"/>
            <a:ext cx="6329842" cy="4387871"/>
          </a:xfrm>
          <a:prstGeom prst="rect">
            <a:avLst/>
          </a:prstGeom>
          <a:ln w="12700">
            <a:miter lim="400000"/>
            <a:headEnd/>
            <a:tailEnd/>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Box 1"/>
          <p:cNvSpPr txBox="1"/>
          <p:nvPr/>
        </p:nvSpPr>
        <p:spPr>
          <a:xfrm>
            <a:off x="937744" y="233637"/>
            <a:ext cx="10164855"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COUNT OF RESTAURANTS</a:t>
            </a:r>
          </a:p>
        </p:txBody>
      </p:sp>
      <p:sp>
        <p:nvSpPr>
          <p:cNvPr id="149" name="TextBox 6"/>
          <p:cNvSpPr txBox="1"/>
          <p:nvPr/>
        </p:nvSpPr>
        <p:spPr>
          <a:xfrm>
            <a:off x="470389" y="5316311"/>
            <a:ext cx="11381252" cy="949782"/>
          </a:xfrm>
          <a:prstGeom prst="rect">
            <a:avLst/>
          </a:prstGeom>
          <a:ln w="12700">
            <a:miter lim="400000"/>
          </a:ln>
        </p:spPr>
        <p:txBody>
          <a:bodyPr lIns="45719" rIns="45719">
            <a:spAutoFit/>
          </a:bodyPr>
          <a:lstStyle/>
          <a:p>
            <a:pPr>
              <a:defRPr sz="2000"/>
            </a:pPr>
            <a:r>
              <a:t>Calculated the total number of restaurants per country and explored yearly trends, visualizing these insights through intuitive charts for better Strategic Decision Making.</a:t>
            </a:r>
          </a:p>
          <a:p>
            <a:pPr>
              <a:defRPr sz="2000"/>
            </a:pPr>
            <a:r>
              <a:t>It will be very advisable to open up the new restaurants. Like- Indonesia, Philippines </a:t>
            </a:r>
          </a:p>
        </p:txBody>
      </p:sp>
      <p:pic>
        <p:nvPicPr>
          <p:cNvPr id="150" name="pasted-movie.png" descr="pasted-movie.png"/>
          <p:cNvPicPr>
            <a:picLocks noChangeAspect="1"/>
          </p:cNvPicPr>
          <p:nvPr/>
        </p:nvPicPr>
        <p:blipFill>
          <a:blip r:embed="rId1"/>
          <a:stretch>
            <a:fillRect/>
          </a:stretch>
        </p:blipFill>
        <p:spPr>
          <a:xfrm>
            <a:off x="5729077" y="1813093"/>
            <a:ext cx="6346896" cy="2836675"/>
          </a:xfrm>
          <a:prstGeom prst="rect">
            <a:avLst/>
          </a:prstGeom>
          <a:ln w="12700">
            <a:miter lim="400000"/>
            <a:headEnd/>
            <a:tailEnd/>
          </a:ln>
        </p:spPr>
      </p:pic>
      <p:pic>
        <p:nvPicPr>
          <p:cNvPr id="151" name="pasted-movie.png" descr="pasted-movie.png"/>
          <p:cNvPicPr>
            <a:picLocks noChangeAspect="1"/>
          </p:cNvPicPr>
          <p:nvPr/>
        </p:nvPicPr>
        <p:blipFill>
          <a:blip r:embed="rId2"/>
          <a:stretch>
            <a:fillRect/>
          </a:stretch>
        </p:blipFill>
        <p:spPr>
          <a:xfrm>
            <a:off x="-25400" y="1739900"/>
            <a:ext cx="6070600" cy="3378200"/>
          </a:xfrm>
          <a:prstGeom prst="rect">
            <a:avLst/>
          </a:prstGeom>
          <a:ln w="12700">
            <a:miter lim="400000"/>
            <a:headEnd/>
            <a:tailEnd/>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Box 1"/>
          <p:cNvSpPr txBox="1"/>
          <p:nvPr/>
        </p:nvSpPr>
        <p:spPr>
          <a:xfrm>
            <a:off x="747445" y="435606"/>
            <a:ext cx="11521874"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AVERAGE RATING OF RESTAURANTS IN EACH COUNTRY</a:t>
            </a:r>
          </a:p>
        </p:txBody>
      </p:sp>
      <p:sp>
        <p:nvSpPr>
          <p:cNvPr id="154" name="TextBox 2"/>
          <p:cNvSpPr txBox="1"/>
          <p:nvPr/>
        </p:nvSpPr>
        <p:spPr>
          <a:xfrm>
            <a:off x="6045462" y="1541725"/>
            <a:ext cx="5131914" cy="4302583"/>
          </a:xfrm>
          <a:prstGeom prst="rect">
            <a:avLst/>
          </a:prstGeom>
          <a:ln w="12700">
            <a:miter lim="400000"/>
          </a:ln>
        </p:spPr>
        <p:txBody>
          <a:bodyPr lIns="45719" rIns="45719">
            <a:spAutoFit/>
          </a:bodyPr>
          <a:lstStyle/>
          <a:p>
            <a:pPr>
              <a:defRPr sz="2000"/>
            </a:pPr>
            <a:r>
              <a:t>Utilized statistical methods to calculate critical metrics such as average ratings for guiding operational improvements and strategic adjustments.</a:t>
            </a:r>
          </a:p>
          <a:p>
            <a:pPr>
              <a:defRPr sz="2000"/>
            </a:pPr>
          </a:p>
          <a:p>
            <a:pPr>
              <a:defRPr sz="2000"/>
            </a:pPr>
            <a:r>
              <a:t>Country with high rating and low rating have their won reasons to be considered for opening new restaurants:</a:t>
            </a:r>
          </a:p>
          <a:p>
            <a:pPr>
              <a:defRPr sz="2000"/>
            </a:pPr>
          </a:p>
          <a:p>
            <a:pPr>
              <a:defRPr sz="2000" b="1" u="sng"/>
            </a:pPr>
            <a:r>
              <a:t>HIGH RATING- </a:t>
            </a:r>
            <a:r>
              <a:rPr b="0" u="none"/>
              <a:t>Such countries have high market appeal.</a:t>
            </a:r>
            <a:endParaRPr b="0" u="none"/>
          </a:p>
          <a:p>
            <a:pPr>
              <a:defRPr sz="2000"/>
            </a:pPr>
          </a:p>
          <a:p>
            <a:pPr>
              <a:defRPr sz="2000" b="1" u="sng"/>
            </a:pPr>
            <a:r>
              <a:t>LOW RATING- </a:t>
            </a:r>
            <a:r>
              <a:rPr b="0" u="none"/>
              <a:t>Such countries have opportunity for improvement</a:t>
            </a:r>
            <a:endParaRPr b="0" u="none"/>
          </a:p>
        </p:txBody>
      </p:sp>
      <p:pic>
        <p:nvPicPr>
          <p:cNvPr id="155" name="pasted-movie.png" descr="pasted-movie.png"/>
          <p:cNvPicPr>
            <a:picLocks noChangeAspect="1"/>
          </p:cNvPicPr>
          <p:nvPr/>
        </p:nvPicPr>
        <p:blipFill>
          <a:blip r:embed="rId1"/>
          <a:stretch>
            <a:fillRect/>
          </a:stretch>
        </p:blipFill>
        <p:spPr>
          <a:xfrm>
            <a:off x="0" y="1807066"/>
            <a:ext cx="5975076" cy="3666525"/>
          </a:xfrm>
          <a:prstGeom prst="rect">
            <a:avLst/>
          </a:prstGeom>
          <a:ln w="12700">
            <a:miter lim="400000"/>
            <a:headEnd/>
            <a:tailEnd/>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Box 2"/>
          <p:cNvSpPr txBox="1"/>
          <p:nvPr/>
        </p:nvSpPr>
        <p:spPr>
          <a:xfrm>
            <a:off x="2998310" y="189661"/>
            <a:ext cx="7316373"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SUGGESTIONS FOR THE COUNTRY</a:t>
            </a:r>
          </a:p>
        </p:txBody>
      </p:sp>
      <p:sp>
        <p:nvSpPr>
          <p:cNvPr id="158" name="TextBox 4"/>
          <p:cNvSpPr txBox="1"/>
          <p:nvPr/>
        </p:nvSpPr>
        <p:spPr>
          <a:xfrm>
            <a:off x="421045" y="1656495"/>
            <a:ext cx="11725235" cy="743704"/>
          </a:xfrm>
          <a:prstGeom prst="rect">
            <a:avLst/>
          </a:prstGeom>
          <a:ln w="12700">
            <a:miter lim="400000"/>
          </a:ln>
        </p:spPr>
        <p:txBody>
          <a:bodyPr lIns="45719" rIns="45719">
            <a:spAutoFit/>
          </a:bodyPr>
          <a:lstStyle/>
          <a:p>
            <a:pPr marL="800100" lvl="1" indent="-342900">
              <a:lnSpc>
                <a:spcPct val="107000"/>
              </a:lnSpc>
              <a:spcBef>
                <a:spcPts val="800"/>
              </a:spcBef>
              <a:buClr>
                <a:srgbClr val="000000"/>
              </a:buClr>
              <a:buSzPct val="100000"/>
              <a:buAutoNum type="alphaUcPeriod"/>
              <a:defRPr b="1" u="sng"/>
            </a:pPr>
            <a:r>
              <a:t>Density of restaurants:</a:t>
            </a:r>
          </a:p>
          <a:p>
            <a:pPr lvl="1">
              <a:lnSpc>
                <a:spcPct val="107000"/>
              </a:lnSpc>
              <a:spcBef>
                <a:spcPts val="800"/>
              </a:spcBef>
            </a:pPr>
            <a:r>
              <a:t>1.   Count of restaurants in Country                      2.   Count of Restaurants in Cities of selected countries</a:t>
            </a:r>
          </a:p>
        </p:txBody>
      </p:sp>
      <p:sp>
        <p:nvSpPr>
          <p:cNvPr id="159" name="TextBox 3"/>
          <p:cNvSpPr txBox="1"/>
          <p:nvPr/>
        </p:nvSpPr>
        <p:spPr>
          <a:xfrm>
            <a:off x="593100" y="1001359"/>
            <a:ext cx="10409481" cy="642103"/>
          </a:xfrm>
          <a:prstGeom prst="rect">
            <a:avLst/>
          </a:prstGeom>
          <a:ln w="12700">
            <a:miter lim="400000"/>
          </a:ln>
        </p:spPr>
        <p:txBody>
          <a:bodyPr lIns="45719" rIns="45719">
            <a:spAutoFit/>
          </a:bodyPr>
          <a:lstStyle>
            <a:lvl1pPr indent="228600">
              <a:lnSpc>
                <a:spcPct val="107000"/>
              </a:lnSpc>
              <a:spcBef>
                <a:spcPts val="800"/>
              </a:spcBef>
            </a:lvl1pPr>
          </a:lstStyle>
          <a:p>
            <a:r>
              <a:t>To determine the lesser competition, I used following parameters to visualize through pivot table and make recommendations for country to open new restaurants</a:t>
            </a:r>
          </a:p>
        </p:txBody>
      </p:sp>
      <p:pic>
        <p:nvPicPr>
          <p:cNvPr id="160" name="pasted-movie.png" descr="pasted-movie.png"/>
          <p:cNvPicPr>
            <a:picLocks noChangeAspect="1"/>
          </p:cNvPicPr>
          <p:nvPr/>
        </p:nvPicPr>
        <p:blipFill>
          <a:blip r:embed="rId1"/>
          <a:stretch>
            <a:fillRect/>
          </a:stretch>
        </p:blipFill>
        <p:spPr>
          <a:xfrm>
            <a:off x="214403" y="2737589"/>
            <a:ext cx="4801628" cy="2742353"/>
          </a:xfrm>
          <a:prstGeom prst="rect">
            <a:avLst/>
          </a:prstGeom>
          <a:ln w="12700">
            <a:miter lim="400000"/>
            <a:headEnd/>
            <a:tailEnd/>
          </a:ln>
        </p:spPr>
      </p:pic>
      <p:pic>
        <p:nvPicPr>
          <p:cNvPr id="161" name="pasted-movie.png" descr="pasted-movie.png"/>
          <p:cNvPicPr>
            <a:picLocks noChangeAspect="1"/>
          </p:cNvPicPr>
          <p:nvPr/>
        </p:nvPicPr>
        <p:blipFill>
          <a:blip r:embed="rId2"/>
          <a:stretch>
            <a:fillRect/>
          </a:stretch>
        </p:blipFill>
        <p:spPr>
          <a:xfrm>
            <a:off x="6366130" y="3653930"/>
            <a:ext cx="5489320" cy="2638920"/>
          </a:xfrm>
          <a:prstGeom prst="rect">
            <a:avLst/>
          </a:prstGeom>
          <a:ln w="12700">
            <a:miter lim="400000"/>
            <a:headEnd/>
            <a:tailEnd/>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Box 1"/>
          <p:cNvSpPr txBox="1"/>
          <p:nvPr/>
        </p:nvSpPr>
        <p:spPr>
          <a:xfrm>
            <a:off x="186711" y="230072"/>
            <a:ext cx="11976987" cy="1564934"/>
          </a:xfrm>
          <a:prstGeom prst="rect">
            <a:avLst/>
          </a:prstGeom>
          <a:ln w="12700">
            <a:miter lim="400000"/>
          </a:ln>
        </p:spPr>
        <p:txBody>
          <a:bodyPr lIns="45719" rIns="45719">
            <a:spAutoFit/>
          </a:bodyPr>
          <a:lstStyle/>
          <a:p>
            <a:pPr marL="806450" indent="-342900">
              <a:lnSpc>
                <a:spcPct val="107000"/>
              </a:lnSpc>
              <a:spcBef>
                <a:spcPts val="800"/>
              </a:spcBef>
              <a:buSzPct val="100000"/>
              <a:buAutoNum type="alphaUcPeriod" startAt="2"/>
              <a:defRPr b="1" u="sng"/>
            </a:pPr>
            <a:r>
              <a:t>Position of Restaurant in Market</a:t>
            </a:r>
          </a:p>
          <a:p>
            <a:pPr marL="806450" indent="-342900">
              <a:lnSpc>
                <a:spcPct val="107000"/>
              </a:lnSpc>
              <a:spcBef>
                <a:spcPts val="800"/>
              </a:spcBef>
              <a:buSzPct val="100000"/>
              <a:buAutoNum type="arabicPeriod"/>
            </a:pPr>
            <a:r>
              <a:t>Average Rating</a:t>
            </a:r>
          </a:p>
          <a:p>
            <a:pPr marL="806450" indent="-342900">
              <a:lnSpc>
                <a:spcPct val="107000"/>
              </a:lnSpc>
              <a:spcBef>
                <a:spcPts val="800"/>
              </a:spcBef>
              <a:buSzPct val="100000"/>
              <a:buAutoNum type="arabicPeriod"/>
            </a:pPr>
            <a:r>
              <a:t>Average no. on interaction- total no. of votes</a:t>
            </a:r>
          </a:p>
        </p:txBody>
      </p:sp>
      <p:pic>
        <p:nvPicPr>
          <p:cNvPr id="164" name="pasted-movie.png" descr="pasted-movie.png"/>
          <p:cNvPicPr>
            <a:picLocks noChangeAspect="1"/>
          </p:cNvPicPr>
          <p:nvPr/>
        </p:nvPicPr>
        <p:blipFill>
          <a:blip r:embed="rId1"/>
          <a:stretch>
            <a:fillRect/>
          </a:stretch>
        </p:blipFill>
        <p:spPr>
          <a:xfrm>
            <a:off x="498645" y="2090186"/>
            <a:ext cx="11194710" cy="3903335"/>
          </a:xfrm>
          <a:prstGeom prst="rect">
            <a:avLst/>
          </a:prstGeom>
          <a:ln w="12700">
            <a:miter lim="400000"/>
            <a:headEnd/>
            <a:tailEnd/>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Rectangle 10"/>
          <p:cNvSpPr/>
          <p:nvPr/>
        </p:nvSpPr>
        <p:spPr>
          <a:xfrm>
            <a:off x="8304935" y="836023"/>
            <a:ext cx="3584784" cy="5538652"/>
          </a:xfrm>
          <a:prstGeom prst="rect">
            <a:avLst/>
          </a:prstGeom>
          <a:solidFill>
            <a:srgbClr val="DAE3F3"/>
          </a:solidFill>
          <a:ln w="12700">
            <a:solidFill>
              <a:srgbClr val="1D3053"/>
            </a:solidFill>
            <a:miter/>
          </a:ln>
        </p:spPr>
        <p:txBody>
          <a:bodyPr lIns="45719" rIns="45719" anchor="ctr"/>
          <a:lstStyle/>
          <a:p>
            <a:pPr algn="ctr">
              <a:defRPr>
                <a:solidFill>
                  <a:srgbClr val="FFFFFF"/>
                </a:solidFill>
              </a:defRPr>
            </a:pPr>
          </a:p>
        </p:txBody>
      </p:sp>
      <p:sp>
        <p:nvSpPr>
          <p:cNvPr id="167" name="Rectangle 9"/>
          <p:cNvSpPr/>
          <p:nvPr/>
        </p:nvSpPr>
        <p:spPr>
          <a:xfrm>
            <a:off x="4234129" y="836023"/>
            <a:ext cx="3584783" cy="5538652"/>
          </a:xfrm>
          <a:prstGeom prst="rect">
            <a:avLst/>
          </a:prstGeom>
          <a:solidFill>
            <a:srgbClr val="DAE3F3"/>
          </a:solidFill>
          <a:ln w="12700">
            <a:solidFill>
              <a:srgbClr val="1D3053"/>
            </a:solidFill>
            <a:miter/>
          </a:ln>
        </p:spPr>
        <p:txBody>
          <a:bodyPr lIns="45719" rIns="45719" anchor="ctr"/>
          <a:lstStyle/>
          <a:p>
            <a:pPr algn="ctr">
              <a:defRPr>
                <a:solidFill>
                  <a:srgbClr val="FFFFFF"/>
                </a:solidFill>
              </a:defRPr>
            </a:pPr>
          </a:p>
        </p:txBody>
      </p:sp>
      <p:sp>
        <p:nvSpPr>
          <p:cNvPr id="168" name="Rectangle 8"/>
          <p:cNvSpPr/>
          <p:nvPr/>
        </p:nvSpPr>
        <p:spPr>
          <a:xfrm>
            <a:off x="226807" y="836023"/>
            <a:ext cx="3584783" cy="5538652"/>
          </a:xfrm>
          <a:prstGeom prst="rect">
            <a:avLst/>
          </a:prstGeom>
          <a:solidFill>
            <a:srgbClr val="DAE3F3"/>
          </a:solidFill>
          <a:ln w="12700">
            <a:solidFill>
              <a:srgbClr val="1D3053"/>
            </a:solidFill>
            <a:miter/>
          </a:ln>
        </p:spPr>
        <p:txBody>
          <a:bodyPr lIns="45719" rIns="45719" anchor="ctr"/>
          <a:lstStyle/>
          <a:p>
            <a:pPr algn="ctr">
              <a:defRPr>
                <a:solidFill>
                  <a:srgbClr val="FFFFFF"/>
                </a:solidFill>
              </a:defRPr>
            </a:pPr>
          </a:p>
        </p:txBody>
      </p:sp>
      <p:sp>
        <p:nvSpPr>
          <p:cNvPr id="169" name="TextBox 1"/>
          <p:cNvSpPr txBox="1"/>
          <p:nvPr/>
        </p:nvSpPr>
        <p:spPr>
          <a:xfrm>
            <a:off x="3696258" y="136067"/>
            <a:ext cx="10164855"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SUGGESTED COUNTRIES</a:t>
            </a:r>
          </a:p>
        </p:txBody>
      </p:sp>
      <p:sp>
        <p:nvSpPr>
          <p:cNvPr id="170" name="TextBox 2"/>
          <p:cNvSpPr txBox="1"/>
          <p:nvPr/>
        </p:nvSpPr>
        <p:spPr>
          <a:xfrm>
            <a:off x="347998" y="959439"/>
            <a:ext cx="3354387" cy="5228195"/>
          </a:xfrm>
          <a:prstGeom prst="rect">
            <a:avLst/>
          </a:prstGeom>
          <a:ln w="12700">
            <a:miter lim="400000"/>
          </a:ln>
        </p:spPr>
        <p:txBody>
          <a:bodyPr lIns="45719" rIns="45719">
            <a:spAutoFit/>
          </a:bodyPr>
          <a:lstStyle/>
          <a:p>
            <a:pPr algn="ctr">
              <a:defRPr sz="2000" b="1" u="sng">
                <a:solidFill>
                  <a:srgbClr val="203864"/>
                </a:solidFill>
              </a:defRPr>
            </a:pPr>
            <a:r>
              <a:t>INDONESIA</a:t>
            </a: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marL="342900" indent="-342900">
              <a:buSzPct val="100000"/>
              <a:buAutoNum type="arabicPeriod"/>
              <a:defRPr sz="1600"/>
            </a:pPr>
            <a:r>
              <a:t>Less no. of restaurants and bigger in geographical size as compare to all other countries having same no. of restaurants</a:t>
            </a:r>
          </a:p>
          <a:p>
            <a:pPr marL="342900" indent="-342900">
              <a:buSzPct val="100000"/>
              <a:buAutoNum type="arabicPeriod"/>
              <a:defRPr sz="1600"/>
            </a:pPr>
          </a:p>
          <a:p>
            <a:pPr marL="342900" indent="-342900">
              <a:buSzPct val="100000"/>
              <a:buAutoNum type="arabicPeriod" startAt="2"/>
              <a:defRPr sz="1600"/>
            </a:pPr>
            <a:r>
              <a:t>One of the highest average rating of restaurants with impressive data of customer interactions</a:t>
            </a:r>
          </a:p>
          <a:p>
            <a:pPr marL="342900" indent="-342900">
              <a:buSzPct val="100000"/>
              <a:buAutoNum type="arabicPeriod" startAt="2"/>
              <a:defRPr sz="1600"/>
            </a:pPr>
          </a:p>
          <a:p>
            <a:pPr>
              <a:defRPr sz="1600" u="sng"/>
            </a:pPr>
            <a:r>
              <a:t>Conclusion: </a:t>
            </a:r>
            <a:r>
              <a:rPr u="none"/>
              <a:t>New Restaurants can be opened because of less no. of restaurants and high market appeal</a:t>
            </a:r>
            <a:endParaRPr u="none"/>
          </a:p>
        </p:txBody>
      </p:sp>
      <p:sp>
        <p:nvSpPr>
          <p:cNvPr id="171" name="TextBox 3"/>
          <p:cNvSpPr txBox="1"/>
          <p:nvPr/>
        </p:nvSpPr>
        <p:spPr>
          <a:xfrm>
            <a:off x="4349329" y="959439"/>
            <a:ext cx="3354385" cy="4466195"/>
          </a:xfrm>
          <a:prstGeom prst="rect">
            <a:avLst/>
          </a:prstGeom>
          <a:ln w="12700">
            <a:miter lim="400000"/>
          </a:ln>
        </p:spPr>
        <p:txBody>
          <a:bodyPr lIns="45719" rIns="45719">
            <a:spAutoFit/>
          </a:bodyPr>
          <a:lstStyle/>
          <a:p>
            <a:pPr algn="ctr">
              <a:defRPr sz="2000" b="1" u="sng">
                <a:solidFill>
                  <a:srgbClr val="203864"/>
                </a:solidFill>
              </a:defRPr>
            </a:pPr>
            <a:r>
              <a:t>PHILIPPINES</a:t>
            </a: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marL="342900" indent="-342900">
              <a:buSzPct val="100000"/>
              <a:buAutoNum type="arabicPeriod"/>
              <a:defRPr sz="1600"/>
            </a:pPr>
            <a:r>
              <a:t>22 Restaurants in 9 different cities.</a:t>
            </a:r>
          </a:p>
          <a:p>
            <a:pPr marL="342900" indent="-342900">
              <a:buSzPct val="100000"/>
              <a:buAutoNum type="arabicPeriod"/>
              <a:defRPr sz="1600"/>
            </a:pPr>
          </a:p>
          <a:p>
            <a:pPr marL="342900" indent="-342900">
              <a:buSzPct val="100000"/>
              <a:buAutoNum type="arabicPeriod" startAt="2"/>
              <a:defRPr sz="1600"/>
            </a:pPr>
            <a:r>
              <a:t>One of the highest average rating of restaurants with impressive data of customer interactions</a:t>
            </a:r>
          </a:p>
          <a:p>
            <a:pPr marL="342900" indent="-342900">
              <a:buSzPct val="100000"/>
              <a:buAutoNum type="arabicPeriod" startAt="2"/>
              <a:defRPr sz="1600"/>
            </a:pPr>
          </a:p>
          <a:p>
            <a:pPr>
              <a:defRPr sz="1600" u="sng"/>
            </a:pPr>
            <a:r>
              <a:t>Conclusion: </a:t>
            </a:r>
            <a:r>
              <a:rPr u="none"/>
              <a:t>New Restaurants can be opened because of less competition and high market appeal</a:t>
            </a:r>
            <a:endParaRPr u="none"/>
          </a:p>
        </p:txBody>
      </p:sp>
      <p:graphicFrame>
        <p:nvGraphicFramePr>
          <p:cNvPr id="172" name="Table 4"/>
          <p:cNvGraphicFramePr/>
          <p:nvPr/>
        </p:nvGraphicFramePr>
        <p:xfrm>
          <a:off x="441232" y="1506309"/>
          <a:ext cx="3306873" cy="1417860"/>
        </p:xfrm>
        <a:graphic>
          <a:graphicData uri="http://schemas.openxmlformats.org/drawingml/2006/table">
            <a:tbl>
              <a:tblPr firstRow="1" bandRow="1">
                <a:tableStyleId>{4C3C2611-4C71-4FC5-86AE-919BDF0F9419}</a:tableStyleId>
              </a:tblPr>
              <a:tblGrid>
                <a:gridCol w="2576026"/>
                <a:gridCol w="730845"/>
              </a:tblGrid>
              <a:tr h="367730">
                <a:tc>
                  <a:txBody>
                    <a:bodyPr/>
                    <a:lstStyle/>
                    <a:p>
                      <a:pPr algn="l">
                        <a:defRPr sz="1800" b="0"/>
                      </a:pPr>
                      <a:r>
                        <a:rPr sz="1400" b="1">
                          <a:solidFill>
                            <a:srgbClr val="0070C0"/>
                          </a:solidFill>
                        </a:rPr>
                        <a:t>TOTAL RESTAURANTS</a:t>
                      </a:r>
                      <a:endParaRPr sz="1400" b="1">
                        <a:solidFill>
                          <a:srgbClr val="0070C0"/>
                        </a:solidFill>
                      </a:endParaRPr>
                    </a:p>
                  </a:txBody>
                  <a:tcPr marL="45720" marR="45720" anchor="t" anchorCtr="0" horzOverflow="overflow"/>
                </a:tc>
                <a:tc>
                  <a:txBody>
                    <a:bodyPr/>
                    <a:lstStyle/>
                    <a:p>
                      <a:pPr algn="l">
                        <a:defRPr sz="1800" b="0"/>
                      </a:pPr>
                      <a:r>
                        <a:rPr sz="1400" b="1">
                          <a:solidFill>
                            <a:srgbClr val="0070C0"/>
                          </a:solidFill>
                        </a:rPr>
                        <a:t>21</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NO. OF CITIES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RATING</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4.3</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NO. OF VOTES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772</a:t>
                      </a:r>
                      <a:endParaRPr sz="1400" b="1">
                        <a:solidFill>
                          <a:srgbClr val="0070C0"/>
                        </a:solidFill>
                      </a:endParaRPr>
                    </a:p>
                  </a:txBody>
                  <a:tcPr marL="45720" marR="45720" anchor="t" anchorCtr="0" horzOverflow="overflow"/>
                </a:tc>
              </a:tr>
            </a:tbl>
          </a:graphicData>
        </a:graphic>
      </p:graphicFrame>
      <p:graphicFrame>
        <p:nvGraphicFramePr>
          <p:cNvPr id="173" name="Table 5"/>
          <p:cNvGraphicFramePr/>
          <p:nvPr/>
        </p:nvGraphicFramePr>
        <p:xfrm>
          <a:off x="4390309" y="1523724"/>
          <a:ext cx="3306872" cy="1400173"/>
        </p:xfrm>
        <a:graphic>
          <a:graphicData uri="http://schemas.openxmlformats.org/drawingml/2006/table">
            <a:tbl>
              <a:tblPr firstRow="1" bandRow="1">
                <a:tableStyleId>{4C3C2611-4C71-4FC5-86AE-919BDF0F9419}</a:tableStyleId>
              </a:tblPr>
              <a:tblGrid>
                <a:gridCol w="2576026"/>
                <a:gridCol w="730845"/>
              </a:tblGrid>
              <a:tr h="350043">
                <a:tc>
                  <a:txBody>
                    <a:bodyPr/>
                    <a:lstStyle/>
                    <a:p>
                      <a:pPr algn="l">
                        <a:defRPr sz="1800" b="0"/>
                      </a:pPr>
                      <a:r>
                        <a:rPr sz="1400" b="1">
                          <a:solidFill>
                            <a:srgbClr val="0070C0"/>
                          </a:solidFill>
                        </a:rPr>
                        <a:t>TOTAL RESTAURANTS</a:t>
                      </a:r>
                      <a:endParaRPr sz="1400" b="1">
                        <a:solidFill>
                          <a:srgbClr val="0070C0"/>
                        </a:solidFill>
                      </a:endParaRPr>
                    </a:p>
                  </a:txBody>
                  <a:tcPr marL="45720" marR="45720" anchor="t" anchorCtr="0" horzOverflow="overflow"/>
                </a:tc>
                <a:tc>
                  <a:txBody>
                    <a:bodyPr/>
                    <a:lstStyle/>
                    <a:p>
                      <a:pPr algn="l">
                        <a:defRPr sz="1800" b="0"/>
                      </a:pPr>
                      <a:r>
                        <a:rPr sz="1400" b="1">
                          <a:solidFill>
                            <a:srgbClr val="0070C0"/>
                          </a:solidFill>
                        </a:rPr>
                        <a:t>22</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NO. OF CITIES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9</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RATING</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4.5</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NO. OF VOTES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407</a:t>
                      </a:r>
                      <a:endParaRPr sz="1400" b="1">
                        <a:solidFill>
                          <a:srgbClr val="0070C0"/>
                        </a:solidFill>
                      </a:endParaRPr>
                    </a:p>
                  </a:txBody>
                  <a:tcPr marL="45720" marR="45720" anchor="t" anchorCtr="0" horzOverflow="overflow"/>
                </a:tc>
              </a:tr>
            </a:tbl>
          </a:graphicData>
        </a:graphic>
      </p:graphicFrame>
      <p:sp>
        <p:nvSpPr>
          <p:cNvPr id="174" name="TextBox 6"/>
          <p:cNvSpPr txBox="1"/>
          <p:nvPr/>
        </p:nvSpPr>
        <p:spPr>
          <a:xfrm>
            <a:off x="8350657" y="934812"/>
            <a:ext cx="3493344" cy="5482195"/>
          </a:xfrm>
          <a:prstGeom prst="rect">
            <a:avLst/>
          </a:prstGeom>
          <a:ln w="12700">
            <a:miter lim="400000"/>
          </a:ln>
        </p:spPr>
        <p:txBody>
          <a:bodyPr lIns="45719" rIns="45719">
            <a:spAutoFit/>
          </a:bodyPr>
          <a:lstStyle/>
          <a:p>
            <a:pPr algn="ctr">
              <a:defRPr sz="2000" b="1" u="sng">
                <a:solidFill>
                  <a:srgbClr val="203864"/>
                </a:solidFill>
              </a:defRPr>
            </a:pPr>
            <a:r>
              <a:t>TURKEY</a:t>
            </a: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algn="ctr">
              <a:defRPr sz="2000" b="1" u="sng">
                <a:solidFill>
                  <a:srgbClr val="203864"/>
                </a:solidFill>
              </a:defRPr>
            </a:pPr>
          </a:p>
          <a:p>
            <a:pPr marL="342900" indent="-342900">
              <a:buSzPct val="100000"/>
              <a:buAutoNum type="arabicPeriod"/>
              <a:defRPr sz="1600"/>
            </a:pPr>
            <a:r>
              <a:t>34 restaurants spread across 2 major cities, showing limited city-level presence with potential for expansion into new urban areas.</a:t>
            </a:r>
            <a:br/>
          </a:p>
          <a:p>
            <a:pPr marL="342900" indent="-342900">
              <a:buSzPct val="100000"/>
              <a:buAutoNum type="arabicPeriod"/>
              <a:defRPr sz="1600"/>
            </a:pPr>
            <a:r>
              <a:t>Strong average ratings reflecting positive customer sentiment and good market acceptance.</a:t>
            </a:r>
            <a:br/>
          </a:p>
          <a:p>
            <a:pPr>
              <a:defRPr sz="1600" u="sng"/>
            </a:pPr>
            <a:r>
              <a:t>Conclusion: </a:t>
            </a:r>
            <a:r>
              <a:rPr u="none"/>
              <a:t>New Restaurants can be opened because of limited city coverage and strong customer feedback indicating good potential for growth.</a:t>
            </a:r>
            <a:endParaRPr u="none"/>
          </a:p>
        </p:txBody>
      </p:sp>
      <p:graphicFrame>
        <p:nvGraphicFramePr>
          <p:cNvPr id="175" name="Table 7"/>
          <p:cNvGraphicFramePr/>
          <p:nvPr/>
        </p:nvGraphicFramePr>
        <p:xfrm>
          <a:off x="8443896" y="1506309"/>
          <a:ext cx="3306872" cy="1400173"/>
        </p:xfrm>
        <a:graphic>
          <a:graphicData uri="http://schemas.openxmlformats.org/drawingml/2006/table">
            <a:tbl>
              <a:tblPr firstRow="1" bandRow="1">
                <a:tableStyleId>{4C3C2611-4C71-4FC5-86AE-919BDF0F9419}</a:tableStyleId>
              </a:tblPr>
              <a:tblGrid>
                <a:gridCol w="2576026"/>
                <a:gridCol w="730845"/>
              </a:tblGrid>
              <a:tr h="350043">
                <a:tc>
                  <a:txBody>
                    <a:bodyPr/>
                    <a:lstStyle/>
                    <a:p>
                      <a:pPr algn="l">
                        <a:defRPr sz="1800" b="0"/>
                      </a:pPr>
                      <a:r>
                        <a:rPr sz="1400" b="1">
                          <a:solidFill>
                            <a:srgbClr val="0070C0"/>
                          </a:solidFill>
                        </a:rPr>
                        <a:t>TOTAL RESTAURANTS</a:t>
                      </a:r>
                      <a:endParaRPr sz="1400" b="1">
                        <a:solidFill>
                          <a:srgbClr val="0070C0"/>
                        </a:solidFill>
                      </a:endParaRPr>
                    </a:p>
                  </a:txBody>
                  <a:tcPr marL="45720" marR="45720" anchor="t" anchorCtr="0" horzOverflow="overflow"/>
                </a:tc>
                <a:tc>
                  <a:txBody>
                    <a:bodyPr/>
                    <a:lstStyle/>
                    <a:p>
                      <a:pPr algn="l">
                        <a:defRPr sz="1800" b="0"/>
                      </a:pPr>
                      <a:r>
                        <a:rPr sz="1400" b="1">
                          <a:solidFill>
                            <a:srgbClr val="0070C0"/>
                          </a:solidFill>
                        </a:rPr>
                        <a:t>34</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NO. OF CITIES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2</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RATING</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4.3</a:t>
                      </a:r>
                      <a:endParaRPr sz="1400" b="1">
                        <a:solidFill>
                          <a:srgbClr val="0070C0"/>
                        </a:solidFill>
                      </a:endParaRPr>
                    </a:p>
                  </a:txBody>
                  <a:tcPr marL="45720" marR="45720" anchor="t" anchorCtr="0" horzOverflow="overflow"/>
                </a:tc>
              </a:tr>
              <a:tr h="350043">
                <a:tc>
                  <a:txBody>
                    <a:bodyPr/>
                    <a:lstStyle/>
                    <a:p>
                      <a:pPr algn="l">
                        <a:defRPr sz="1800"/>
                      </a:pPr>
                      <a:r>
                        <a:rPr sz="1400" b="1">
                          <a:solidFill>
                            <a:srgbClr val="0070C0"/>
                          </a:solidFill>
                        </a:rPr>
                        <a:t>AVERAGE NO. OF VOTES</a:t>
                      </a:r>
                      <a:endParaRPr sz="1400" b="1">
                        <a:solidFill>
                          <a:srgbClr val="0070C0"/>
                        </a:solidFill>
                      </a:endParaRPr>
                    </a:p>
                  </a:txBody>
                  <a:tcPr marL="45720" marR="45720" anchor="t" anchorCtr="0" horzOverflow="overflow"/>
                </a:tc>
                <a:tc>
                  <a:txBody>
                    <a:bodyPr/>
                    <a:lstStyle/>
                    <a:p>
                      <a:pPr algn="l">
                        <a:defRPr sz="1800"/>
                      </a:pPr>
                      <a:r>
                        <a:rPr sz="1400" b="1">
                          <a:solidFill>
                            <a:srgbClr val="0070C0"/>
                          </a:solidFill>
                        </a:rPr>
                        <a:t>431</a:t>
                      </a:r>
                      <a:endParaRPr sz="1400" b="1">
                        <a:solidFill>
                          <a:srgbClr val="0070C0"/>
                        </a:solidFill>
                      </a:endParaRPr>
                    </a:p>
                  </a:txBody>
                  <a:tcPr marL="45720" marR="45720" anchor="t" anchorCtr="0" horzOverflow="overflow"/>
                </a:tc>
              </a:tr>
            </a:tbl>
          </a:graphicData>
        </a:graphic>
      </p:graphicFrame>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TextBox 2"/>
          <p:cNvSpPr txBox="1"/>
          <p:nvPr/>
        </p:nvSpPr>
        <p:spPr>
          <a:xfrm>
            <a:off x="184150" y="865505"/>
            <a:ext cx="11485245" cy="587375"/>
          </a:xfrm>
          <a:prstGeom prst="rect">
            <a:avLst/>
          </a:prstGeom>
          <a:ln w="12700">
            <a:miter lim="400000"/>
          </a:ln>
        </p:spPr>
        <p:txBody>
          <a:bodyPr lIns="45719" rIns="45719">
            <a:noAutofit/>
          </a:bodyPr>
          <a:lstStyle>
            <a:lvl1pPr indent="228600">
              <a:lnSpc>
                <a:spcPct val="107000"/>
              </a:lnSpc>
              <a:spcBef>
                <a:spcPts val="800"/>
              </a:spcBef>
            </a:lvl1pPr>
          </a:lstStyle>
          <a:p>
            <a:r>
              <a:t>I suggested the cities having less no. of restaurants holding high potential of expanding there.</a:t>
            </a:r>
          </a:p>
        </p:txBody>
      </p:sp>
      <p:sp>
        <p:nvSpPr>
          <p:cNvPr id="178" name="TextBox 3"/>
          <p:cNvSpPr txBox="1"/>
          <p:nvPr/>
        </p:nvSpPr>
        <p:spPr>
          <a:xfrm>
            <a:off x="925931" y="163187"/>
            <a:ext cx="10114141" cy="586741"/>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SUGGESTIONS FOR THE STATE AND CITY</a:t>
            </a:r>
          </a:p>
        </p:txBody>
      </p:sp>
      <p:graphicFrame>
        <p:nvGraphicFramePr>
          <p:cNvPr id="180" name="Table 5"/>
          <p:cNvGraphicFramePr/>
          <p:nvPr/>
        </p:nvGraphicFramePr>
        <p:xfrm>
          <a:off x="184785" y="4508500"/>
          <a:ext cx="11734800" cy="1968500"/>
        </p:xfrm>
        <a:graphic>
          <a:graphicData uri="http://schemas.openxmlformats.org/drawingml/2006/table">
            <a:tbl>
              <a:tblPr>
                <a:tableStyleId>{4C3C2611-4C71-4FC5-86AE-919BDF0F9419}</a:tableStyleId>
              </a:tblPr>
              <a:tblGrid>
                <a:gridCol w="1913890"/>
                <a:gridCol w="2099310"/>
                <a:gridCol w="1837055"/>
                <a:gridCol w="1786890"/>
                <a:gridCol w="1624965"/>
                <a:gridCol w="1472565"/>
                <a:gridCol w="1000125"/>
              </a:tblGrid>
              <a:tr h="266700">
                <a:tc>
                  <a:txBody>
                    <a:bodyPr/>
                    <a:lstStyle/>
                    <a:p>
                      <a:pPr algn="ctr">
                        <a:defRPr sz="1800"/>
                      </a:pPr>
                      <a:r>
                        <a:rPr sz="1600" b="1"/>
                        <a:t>Suggested Country</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State </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City 1</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City 2</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City 3</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City 4</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600" b="1"/>
                        <a:t>City 5</a:t>
                      </a:r>
                      <a:endParaRPr sz="1600" b="1"/>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r>
              <a:tr h="287020">
                <a:tc rowSpan="2">
                  <a:txBody>
                    <a:bodyPr/>
                    <a:lstStyle/>
                    <a:p>
                      <a:pPr algn="ctr">
                        <a:defRPr sz="1800"/>
                      </a:pPr>
                      <a:r>
                        <a:rPr sz="1400"/>
                        <a:t>Indonesia</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400"/>
                        <a:t>Banten</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r>
              <a:tr h="287020">
                <a:tc vMerge="1">
                  <a:tcPr/>
                </a:tc>
                <a:tc>
                  <a:txBody>
                    <a:bodyPr/>
                    <a:lstStyle/>
                    <a:p>
                      <a:pPr algn="ctr">
                        <a:defRPr sz="1800"/>
                      </a:pPr>
                      <a:r>
                        <a:rPr sz="1400"/>
                        <a:t>West Java</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Bandung</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Bogor</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Tangerang</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r>
              <a:tr h="287020">
                <a:tc rowSpan="2">
                  <a:txBody>
                    <a:bodyPr/>
                    <a:lstStyle/>
                    <a:p>
                      <a:pPr algn="ctr">
                        <a:defRPr sz="1800"/>
                      </a:pPr>
                      <a:r>
                        <a:rPr sz="1400"/>
                        <a:t>Turkey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r>
              <a:tr h="287020">
                <a:tc vMerge="1">
                  <a:tcPr/>
                </a:tc>
                <a:tc>
                  <a:txBody>
                    <a:bodyPr/>
                    <a:lstStyle/>
                    <a:p>
                      <a:pPr algn="ctr">
                        <a:defRPr sz="1800"/>
                      </a:pPr>
                      <a:r>
                        <a:rPr sz="1400"/>
                        <a:t>Marmara</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Istanbul</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Ankara</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r>
              <a:tr h="287020">
                <a:tc rowSpan="2">
                  <a:txBody>
                    <a:bodyPr/>
                    <a:lstStyle/>
                    <a:p>
                      <a:pPr algn="ctr">
                        <a:defRPr sz="1800"/>
                      </a:pPr>
                      <a:r>
                        <a:rPr sz="1400"/>
                        <a:t>Philippines</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9EFF7"/>
                    </a:solidFill>
                  </a:tcPr>
                </a:tc>
                <a:tc>
                  <a:txBody>
                    <a:bodyPr/>
                    <a:lstStyle/>
                    <a:p>
                      <a:pPr algn="ctr">
                        <a:defRPr sz="1800"/>
                      </a:pPr>
                      <a:r>
                        <a:rPr sz="1400"/>
                        <a:t>Laguna</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l">
                        <a:defRPr sz="1800"/>
                      </a:pPr>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c>
                  <a:txBody>
                    <a:bodyPr/>
                    <a:lstStyle/>
                    <a:p>
                      <a:pPr algn="ctr">
                        <a:defRPr sz="1800"/>
                      </a:pPr>
                      <a:r>
                        <a:rPr sz="1400"/>
                        <a:t> </a:t>
                      </a:r>
                      <a:endParaRPr sz="1400"/>
                    </a:p>
                  </a:txBody>
                  <a:tcPr marL="6350" marR="6350" marT="6350" marB="6350" anchor="ctr" anchorCtr="0" horzOverflow="overflow">
                    <a:lnL w="12700">
                      <a:solidFill>
                        <a:srgbClr val="000000"/>
                      </a:solidFill>
                    </a:lnL>
                    <a:lnR w="12700">
                      <a:solidFill>
                        <a:srgbClr val="000000"/>
                      </a:solidFill>
                    </a:lnR>
                    <a:lnT w="12700">
                      <a:solidFill>
                        <a:srgbClr val="000000"/>
                      </a:solidFill>
                    </a:lnT>
                    <a:lnB w="12700">
                      <a:miter lim="400000"/>
                    </a:lnB>
                    <a:solidFill>
                      <a:srgbClr val="E9EFF7"/>
                    </a:solidFill>
                  </a:tcPr>
                </a:tc>
              </a:tr>
              <a:tr h="266700">
                <a:tc vMerge="1">
                  <a:tcPr/>
                </a:tc>
                <a:tc>
                  <a:txBody>
                    <a:bodyPr/>
                    <a:lstStyle/>
                    <a:p>
                      <a:pPr algn="ctr">
                        <a:defRPr sz="1800"/>
                      </a:pPr>
                      <a:r>
                        <a:rPr sz="1400"/>
                        <a:t>Metro Manila</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Tagaytay City</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Quezon City</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Makati City</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San Juan City</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c>
                  <a:txBody>
                    <a:bodyPr/>
                    <a:lstStyle/>
                    <a:p>
                      <a:pPr algn="ctr">
                        <a:defRPr sz="1800"/>
                      </a:pPr>
                      <a:r>
                        <a:rPr sz="1400"/>
                        <a:t>Santa Rosa </a:t>
                      </a:r>
                      <a:endParaRPr sz="1400"/>
                    </a:p>
                  </a:txBody>
                  <a:tcPr marL="6350" marR="6350" marT="6350" marB="6350" anchor="ctr" anchorCtr="0" horzOverflow="overflow">
                    <a:lnL w="12700">
                      <a:solidFill>
                        <a:srgbClr val="000000"/>
                      </a:solidFill>
                    </a:lnL>
                    <a:lnR w="12700">
                      <a:solidFill>
                        <a:srgbClr val="000000"/>
                      </a:solidFill>
                    </a:lnR>
                    <a:lnT w="12700">
                      <a:miter lim="400000"/>
                    </a:lnT>
                    <a:lnB w="12700">
                      <a:solidFill>
                        <a:srgbClr val="000000"/>
                      </a:solidFill>
                    </a:lnB>
                    <a:solidFill>
                      <a:srgbClr val="E9EFF7"/>
                    </a:solidFill>
                  </a:tcPr>
                </a:tc>
              </a:tr>
            </a:tbl>
          </a:graphicData>
        </a:graphic>
      </p:graphicFrame>
      <p:graphicFrame>
        <p:nvGraphicFramePr>
          <p:cNvPr id="8" name="Chart 7"/>
          <p:cNvGraphicFramePr/>
          <p:nvPr/>
        </p:nvGraphicFramePr>
        <p:xfrm>
          <a:off x="284480" y="1231265"/>
          <a:ext cx="11503660" cy="321056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Box 4"/>
          <p:cNvSpPr txBox="1"/>
          <p:nvPr/>
        </p:nvSpPr>
        <p:spPr>
          <a:xfrm>
            <a:off x="1904955" y="62974"/>
            <a:ext cx="8919745"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CUISINES TO FOCUS IN NEWER RESTAURANTS</a:t>
            </a:r>
          </a:p>
        </p:txBody>
      </p:sp>
      <p:sp>
        <p:nvSpPr>
          <p:cNvPr id="183" name="TextBox 6"/>
          <p:cNvSpPr txBox="1"/>
          <p:nvPr/>
        </p:nvSpPr>
        <p:spPr>
          <a:xfrm>
            <a:off x="537170" y="684775"/>
            <a:ext cx="11117660" cy="1209389"/>
          </a:xfrm>
          <a:prstGeom prst="rect">
            <a:avLst/>
          </a:prstGeom>
          <a:ln w="12700">
            <a:miter lim="400000"/>
          </a:ln>
        </p:spPr>
        <p:txBody>
          <a:bodyPr lIns="45719" rIns="45719">
            <a:spAutoFit/>
          </a:bodyPr>
          <a:lstStyle/>
          <a:p>
            <a:r>
              <a:t>To decide Which Cuisines, we should focus on in the newer Restaurant, We will focus on two factors: </a:t>
            </a:r>
            <a:r>
              <a:rPr b="1"/>
              <a:t>Cuisine’s rating &amp; total votes each cuisines got</a:t>
            </a:r>
            <a:r>
              <a:t>.</a:t>
            </a:r>
            <a:br/>
            <a:br/>
            <a:r>
              <a:t>Highlighted cuisines should be focused in the respective countries </a:t>
            </a:r>
          </a:p>
        </p:txBody>
      </p:sp>
      <p:sp>
        <p:nvSpPr>
          <p:cNvPr id="184" name="TextBox 14"/>
          <p:cNvSpPr txBox="1"/>
          <p:nvPr/>
        </p:nvSpPr>
        <p:spPr>
          <a:xfrm>
            <a:off x="378594" y="5892110"/>
            <a:ext cx="8524836" cy="743703"/>
          </a:xfrm>
          <a:prstGeom prst="rect">
            <a:avLst/>
          </a:prstGeom>
          <a:ln w="12700">
            <a:miter lim="400000"/>
          </a:ln>
        </p:spPr>
        <p:txBody>
          <a:bodyPr lIns="45719" rIns="45719">
            <a:spAutoFit/>
          </a:bodyPr>
          <a:lstStyle/>
          <a:p>
            <a:pPr>
              <a:lnSpc>
                <a:spcPct val="107000"/>
              </a:lnSpc>
              <a:spcBef>
                <a:spcPts val="800"/>
              </a:spcBef>
            </a:pPr>
            <a:r>
              <a:t>Reason: a. With fewer votes, a 4.9 rating might be more susceptible to fluctuation.</a:t>
            </a:r>
          </a:p>
          <a:p>
            <a:r>
              <a:t>               b. 4.5 rating with many votes suggests a more stable and reliable average</a:t>
            </a:r>
          </a:p>
        </p:txBody>
      </p:sp>
      <p:pic>
        <p:nvPicPr>
          <p:cNvPr id="185" name="pasted-movie.png" descr="pasted-movie.png"/>
          <p:cNvPicPr>
            <a:picLocks noChangeAspect="1"/>
          </p:cNvPicPr>
          <p:nvPr/>
        </p:nvPicPr>
        <p:blipFill>
          <a:blip r:embed="rId1"/>
          <a:stretch>
            <a:fillRect/>
          </a:stretch>
        </p:blipFill>
        <p:spPr>
          <a:xfrm>
            <a:off x="451483" y="2083796"/>
            <a:ext cx="3557632" cy="1692466"/>
          </a:xfrm>
          <a:prstGeom prst="rect">
            <a:avLst/>
          </a:prstGeom>
          <a:ln w="12700">
            <a:miter lim="400000"/>
            <a:headEnd/>
            <a:tailEnd/>
          </a:ln>
        </p:spPr>
      </p:pic>
      <p:pic>
        <p:nvPicPr>
          <p:cNvPr id="186" name="pasted-movie.png" descr="pasted-movie.png"/>
          <p:cNvPicPr>
            <a:picLocks noChangeAspect="1"/>
          </p:cNvPicPr>
          <p:nvPr/>
        </p:nvPicPr>
        <p:blipFill>
          <a:blip r:embed="rId2"/>
          <a:stretch>
            <a:fillRect/>
          </a:stretch>
        </p:blipFill>
        <p:spPr>
          <a:xfrm>
            <a:off x="4200636" y="2088745"/>
            <a:ext cx="3790728" cy="1682569"/>
          </a:xfrm>
          <a:prstGeom prst="rect">
            <a:avLst/>
          </a:prstGeom>
          <a:ln w="12700">
            <a:miter lim="400000"/>
            <a:headEnd/>
            <a:tailEnd/>
          </a:ln>
        </p:spPr>
      </p:pic>
      <p:pic>
        <p:nvPicPr>
          <p:cNvPr id="187" name="pasted-movie.png" descr="pasted-movie.png"/>
          <p:cNvPicPr>
            <a:picLocks noChangeAspect="1"/>
          </p:cNvPicPr>
          <p:nvPr/>
        </p:nvPicPr>
        <p:blipFill>
          <a:blip r:embed="rId3"/>
          <a:stretch>
            <a:fillRect/>
          </a:stretch>
        </p:blipFill>
        <p:spPr>
          <a:xfrm>
            <a:off x="8344616" y="2083796"/>
            <a:ext cx="3445019" cy="1692466"/>
          </a:xfrm>
          <a:prstGeom prst="rect">
            <a:avLst/>
          </a:prstGeom>
          <a:ln w="12700">
            <a:miter lim="400000"/>
            <a:headEnd/>
            <a:tailEnd/>
          </a:ln>
        </p:spPr>
      </p:pic>
      <p:pic>
        <p:nvPicPr>
          <p:cNvPr id="188" name="pasted-movie.png" descr="pasted-movie.png"/>
          <p:cNvPicPr>
            <a:picLocks noChangeAspect="1"/>
          </p:cNvPicPr>
          <p:nvPr/>
        </p:nvPicPr>
        <p:blipFill>
          <a:blip r:embed="rId4"/>
          <a:stretch>
            <a:fillRect/>
          </a:stretch>
        </p:blipFill>
        <p:spPr>
          <a:xfrm>
            <a:off x="4200636" y="3960946"/>
            <a:ext cx="3790728" cy="1879955"/>
          </a:xfrm>
          <a:prstGeom prst="rect">
            <a:avLst/>
          </a:prstGeom>
          <a:ln w="12700">
            <a:miter lim="400000"/>
            <a:headEnd/>
            <a:tailEnd/>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Box 2"/>
          <p:cNvSpPr txBox="1"/>
          <p:nvPr/>
        </p:nvSpPr>
        <p:spPr>
          <a:xfrm>
            <a:off x="1331575" y="415012"/>
            <a:ext cx="10191124"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HOW PRICING OF CUISINES AFFECT THE RATING?</a:t>
            </a:r>
          </a:p>
        </p:txBody>
      </p:sp>
      <p:sp>
        <p:nvSpPr>
          <p:cNvPr id="191" name="TextBox 5"/>
          <p:cNvSpPr txBox="1"/>
          <p:nvPr/>
        </p:nvSpPr>
        <p:spPr>
          <a:xfrm>
            <a:off x="825894" y="2303384"/>
            <a:ext cx="4639952" cy="3254089"/>
          </a:xfrm>
          <a:prstGeom prst="rect">
            <a:avLst/>
          </a:prstGeom>
          <a:ln w="12700">
            <a:miter lim="400000"/>
          </a:ln>
        </p:spPr>
        <p:txBody>
          <a:bodyPr lIns="45719" rIns="45719">
            <a:spAutoFit/>
          </a:bodyPr>
          <a:lstStyle/>
          <a:p>
            <a:pPr marL="285750" indent="-285750">
              <a:buSzPct val="100000"/>
              <a:buFont typeface="Arial" panose="020B0704020202020204"/>
              <a:buChar char="•"/>
            </a:pPr>
            <a:r>
              <a:t>A positive correlation of </a:t>
            </a:r>
            <a:r>
              <a:rPr b="1"/>
              <a:t>+0.08</a:t>
            </a:r>
            <a:r>
              <a:t> shows a </a:t>
            </a:r>
            <a:r>
              <a:rPr b="1"/>
              <a:t>very slight tendency</a:t>
            </a:r>
            <a:r>
              <a:t> for higher-priced cuisines to receive better ratings, but the relationship is </a:t>
            </a:r>
            <a:r>
              <a:rPr b="1"/>
              <a:t>extremely weak</a:t>
            </a:r>
            <a:r>
              <a:t>.</a:t>
            </a:r>
            <a:br/>
          </a:p>
          <a:p>
            <a:pPr marL="285750" indent="-285750">
              <a:buSzPct val="100000"/>
              <a:buFont typeface="Arial" panose="020B0704020202020204"/>
              <a:buChar char="•"/>
            </a:pPr>
            <a:r>
              <a:t>This means price has almost no meaningful impact on customer satisfaction. Other factors such as taste, food quality, presentation, service, and overall dining experience play a much bigger role in influencing ratings.</a:t>
            </a:r>
          </a:p>
        </p:txBody>
      </p:sp>
      <p:sp>
        <p:nvSpPr>
          <p:cNvPr id="192" name="TextBox 9"/>
          <p:cNvSpPr txBox="1"/>
          <p:nvPr/>
        </p:nvSpPr>
        <p:spPr>
          <a:xfrm>
            <a:off x="7610488" y="4766657"/>
            <a:ext cx="1970824" cy="333089"/>
          </a:xfrm>
          <a:prstGeom prst="rect">
            <a:avLst/>
          </a:prstGeom>
          <a:ln w="12700">
            <a:miter lim="400000"/>
          </a:ln>
        </p:spPr>
        <p:txBody>
          <a:bodyPr lIns="45719" rIns="45719">
            <a:spAutoFit/>
          </a:bodyPr>
          <a:lstStyle/>
          <a:p>
            <a:r>
              <a:t>Correlation is  0.08</a:t>
            </a:r>
          </a:p>
        </p:txBody>
      </p:sp>
      <p:pic>
        <p:nvPicPr>
          <p:cNvPr id="193" name="pasted-movie.png" descr="pasted-movie.png"/>
          <p:cNvPicPr>
            <a:picLocks noChangeAspect="1"/>
          </p:cNvPicPr>
          <p:nvPr/>
        </p:nvPicPr>
        <p:blipFill>
          <a:blip r:embed="rId1"/>
          <a:stretch>
            <a:fillRect/>
          </a:stretch>
        </p:blipFill>
        <p:spPr>
          <a:xfrm>
            <a:off x="5786352" y="2171499"/>
            <a:ext cx="5872953" cy="2420678"/>
          </a:xfrm>
          <a:prstGeom prst="rect">
            <a:avLst/>
          </a:prstGeom>
          <a:ln w="12700">
            <a:miter lim="400000"/>
            <a:headEnd/>
            <a:tailEnd/>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Box 2"/>
          <p:cNvSpPr txBox="1"/>
          <p:nvPr/>
        </p:nvSpPr>
        <p:spPr>
          <a:xfrm>
            <a:off x="402543" y="78081"/>
            <a:ext cx="11663728" cy="992348"/>
          </a:xfrm>
          <a:prstGeom prst="rect">
            <a:avLst/>
          </a:prstGeom>
          <a:ln w="12700">
            <a:miter lim="400000"/>
          </a:ln>
        </p:spPr>
        <p:txBody>
          <a:bodyPr lIns="45719" rIns="45719">
            <a:spAutoFit/>
          </a:bodyPr>
          <a:lstStyle>
            <a:lvl1pPr algn="ctr">
              <a:defRPr sz="3200" b="1">
                <a:solidFill>
                  <a:srgbClr val="44546A"/>
                </a:solidFill>
                <a:latin typeface="Century Gothic"/>
                <a:ea typeface="Century Gothic"/>
                <a:cs typeface="Century Gothic"/>
                <a:sym typeface="Century Gothic"/>
              </a:defRPr>
            </a:lvl1pPr>
          </a:lstStyle>
          <a:p>
            <a:r>
              <a:t>CURRENT EXPENDITURE ON FOOD IN SUGGESTED COUNTRIES</a:t>
            </a:r>
          </a:p>
        </p:txBody>
      </p:sp>
      <p:sp>
        <p:nvSpPr>
          <p:cNvPr id="196" name="TextBox 11"/>
          <p:cNvSpPr txBox="1"/>
          <p:nvPr/>
        </p:nvSpPr>
        <p:spPr>
          <a:xfrm>
            <a:off x="1252120" y="4768750"/>
            <a:ext cx="9400327" cy="2847688"/>
          </a:xfrm>
          <a:prstGeom prst="rect">
            <a:avLst/>
          </a:prstGeom>
          <a:ln w="12700">
            <a:miter lim="400000"/>
          </a:ln>
        </p:spPr>
        <p:txBody>
          <a:bodyPr lIns="45719" rIns="45719">
            <a:spAutoFit/>
          </a:bodyPr>
          <a:lstStyle/>
          <a:p>
            <a:pPr defTabSz="457200">
              <a:spcBef>
                <a:spcPts val="1200"/>
              </a:spcBef>
              <a:defRPr sz="1400">
                <a:latin typeface="Times Roman"/>
                <a:ea typeface="Times Roman"/>
                <a:cs typeface="Times Roman"/>
                <a:sym typeface="Times Roman"/>
              </a:defRPr>
            </a:pPr>
            <a:r>
              <a:t>Use premium pricing selectively in </a:t>
            </a:r>
            <a:r>
              <a:rPr b="1"/>
              <a:t>United Arab Emirates</a:t>
            </a:r>
            <a:r>
              <a:t> and </a:t>
            </a:r>
            <a:r>
              <a:rPr b="1"/>
              <a:t>Philippines</a:t>
            </a:r>
            <a:r>
              <a:t>, where higher average spending indicates stronger acceptance of premium dining experiences.</a:t>
            </a:r>
          </a:p>
          <a:p>
            <a:pPr defTabSz="457200">
              <a:spcBef>
                <a:spcPts val="1200"/>
              </a:spcBef>
              <a:defRPr sz="1400">
                <a:latin typeface="Times Roman"/>
                <a:ea typeface="Times Roman"/>
                <a:cs typeface="Times Roman"/>
                <a:sym typeface="Times Roman"/>
              </a:defRPr>
            </a:pPr>
            <a:r>
              <a:t>In </a:t>
            </a:r>
            <a:r>
              <a:rPr b="1"/>
              <a:t>Indonesia</a:t>
            </a:r>
            <a:r>
              <a:t>, maintain moderate pricing with strong value offerings to match mid-range customer spending behavior.</a:t>
            </a:r>
          </a:p>
          <a:p>
            <a:pPr defTabSz="457200">
              <a:spcBef>
                <a:spcPts val="1200"/>
              </a:spcBef>
              <a:defRPr sz="1400">
                <a:latin typeface="Times Roman"/>
                <a:ea typeface="Times Roman"/>
                <a:cs typeface="Times Roman"/>
                <a:sym typeface="Times Roman"/>
              </a:defRPr>
            </a:pPr>
            <a:r>
              <a:t>In </a:t>
            </a:r>
            <a:r>
              <a:rPr b="1"/>
              <a:t>Turkey</a:t>
            </a:r>
            <a:r>
              <a:t>, keep pricing affordable and value-focused, as the average cost for two is lowest among the selected countries.</a:t>
            </a:r>
          </a:p>
          <a:p>
            <a:pPr defTabSz="457200">
              <a:spcBef>
                <a:spcPts val="1200"/>
              </a:spcBef>
              <a:defRPr sz="1400">
                <a:latin typeface="Times Roman"/>
                <a:ea typeface="Times Roman"/>
                <a:cs typeface="Times Roman"/>
                <a:sym typeface="Times Roman"/>
              </a:defRPr>
            </a:pPr>
            <a:r>
              <a:t>Overall, pricing strategy should align with each country’s spending capacity while maintaining food quality and customer satisfaction.</a:t>
            </a:r>
          </a:p>
          <a:p>
            <a:pPr defTabSz="457200">
              <a:defRPr sz="1200">
                <a:latin typeface="Times Roman"/>
                <a:ea typeface="Times Roman"/>
                <a:cs typeface="Times Roman"/>
                <a:sym typeface="Times Roman"/>
              </a:defRPr>
            </a:pPr>
          </a:p>
          <a:p>
            <a:pPr defTabSz="457200">
              <a:defRPr sz="1200">
                <a:latin typeface="Times Roman"/>
                <a:ea typeface="Times Roman"/>
                <a:cs typeface="Times Roman"/>
                <a:sym typeface="Times Roman"/>
              </a:defRPr>
            </a:pPr>
          </a:p>
          <a:p>
            <a:pPr defTabSz="457200">
              <a:defRPr sz="1200">
                <a:latin typeface="Times Roman"/>
                <a:ea typeface="Times Roman"/>
                <a:cs typeface="Times Roman"/>
                <a:sym typeface="Times Roman"/>
              </a:defRPr>
            </a:pPr>
          </a:p>
        </p:txBody>
      </p:sp>
      <p:sp>
        <p:nvSpPr>
          <p:cNvPr id="197" name="TextBox 13"/>
          <p:cNvSpPr txBox="1"/>
          <p:nvPr/>
        </p:nvSpPr>
        <p:spPr>
          <a:xfrm>
            <a:off x="1308977" y="4433467"/>
            <a:ext cx="1970825" cy="333089"/>
          </a:xfrm>
          <a:prstGeom prst="rect">
            <a:avLst/>
          </a:prstGeom>
          <a:ln w="12700">
            <a:miter lim="400000"/>
          </a:ln>
        </p:spPr>
        <p:txBody>
          <a:bodyPr lIns="45719" rIns="45719">
            <a:spAutoFit/>
          </a:bodyPr>
          <a:lstStyle/>
          <a:p>
            <a:pPr>
              <a:defRPr b="1"/>
            </a:pPr>
            <a:r>
              <a:t>Recommendations</a:t>
            </a:r>
            <a:r>
              <a:rPr b="0"/>
              <a:t> </a:t>
            </a:r>
            <a:endParaRPr b="0"/>
          </a:p>
        </p:txBody>
      </p:sp>
      <p:pic>
        <p:nvPicPr>
          <p:cNvPr id="198" name="pasted-movie.png" descr="pasted-movie.png"/>
          <p:cNvPicPr>
            <a:picLocks noChangeAspect="1"/>
          </p:cNvPicPr>
          <p:nvPr/>
        </p:nvPicPr>
        <p:blipFill>
          <a:blip r:embed="rId1"/>
          <a:stretch>
            <a:fillRect/>
          </a:stretch>
        </p:blipFill>
        <p:spPr>
          <a:xfrm>
            <a:off x="2556328" y="773274"/>
            <a:ext cx="6352582" cy="3416012"/>
          </a:xfrm>
          <a:prstGeom prst="rect">
            <a:avLst/>
          </a:prstGeom>
          <a:ln w="12700">
            <a:miter lim="400000"/>
            <a:headEnd/>
            <a:tailEnd/>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Box 4"/>
          <p:cNvSpPr txBox="1"/>
          <p:nvPr/>
        </p:nvSpPr>
        <p:spPr>
          <a:xfrm>
            <a:off x="2188799" y="348573"/>
            <a:ext cx="7892538"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BOOKING AND DELIVERY OPTIONS</a:t>
            </a:r>
          </a:p>
        </p:txBody>
      </p:sp>
      <p:graphicFrame>
        <p:nvGraphicFramePr>
          <p:cNvPr id="202" name="Chart 6"/>
          <p:cNvGraphicFramePr/>
          <p:nvPr/>
        </p:nvGraphicFramePr>
        <p:xfrm>
          <a:off x="3369027" y="1390995"/>
          <a:ext cx="2186466" cy="2303615"/>
        </p:xfrm>
        <a:graphic>
          <a:graphicData uri="http://schemas.openxmlformats.org/drawingml/2006/chart">
            <c:chart xmlns:c="http://schemas.openxmlformats.org/drawingml/2006/chart" xmlns:r="http://schemas.openxmlformats.org/officeDocument/2006/relationships" r:id="rId1"/>
          </a:graphicData>
        </a:graphic>
      </p:graphicFrame>
      <p:sp>
        <p:nvSpPr>
          <p:cNvPr id="207" name="TextBox 14"/>
          <p:cNvSpPr txBox="1"/>
          <p:nvPr/>
        </p:nvSpPr>
        <p:spPr>
          <a:xfrm>
            <a:off x="3215640" y="4580890"/>
            <a:ext cx="5730875" cy="1558925"/>
          </a:xfrm>
          <a:prstGeom prst="rect">
            <a:avLst/>
          </a:prstGeom>
          <a:ln w="12700">
            <a:miter lim="400000"/>
          </a:ln>
        </p:spPr>
        <p:txBody>
          <a:bodyPr lIns="45719" rIns="45719">
            <a:noAutofit/>
          </a:bodyPr>
          <a:lstStyle/>
          <a:p>
            <a:pPr>
              <a:defRPr sz="1600" b="1" u="sng"/>
            </a:pPr>
            <a:r>
              <a:t>CONCLUSION:</a:t>
            </a:r>
            <a:r>
              <a:rPr b="0"/>
              <a:t> </a:t>
            </a:r>
            <a:r>
              <a:rPr b="0" u="none"/>
              <a:t> </a:t>
            </a:r>
            <a:r>
              <a:rPr lang="en-US" altLang="en-US" b="0" u="none"/>
              <a:t>Most restaurants do not provide table booking or online delivery services. However, restaurants offering these facilities tend to improve customer convenience and overall satisfaction. Providing both services can help restaurants attract more customers and achieve better ratings</a:t>
            </a:r>
            <a:r>
              <a:rPr b="0" u="none"/>
              <a:t> </a:t>
            </a:r>
            <a:endParaRPr b="0" u="none"/>
          </a:p>
        </p:txBody>
      </p:sp>
      <p:graphicFrame>
        <p:nvGraphicFramePr>
          <p:cNvPr id="2" name="Chart 1"/>
          <p:cNvGraphicFramePr/>
          <p:nvPr/>
        </p:nvGraphicFramePr>
        <p:xfrm>
          <a:off x="407035" y="1318260"/>
          <a:ext cx="5099050" cy="30962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nvGraphicFramePr>
        <p:xfrm>
          <a:off x="5591810" y="1340485"/>
          <a:ext cx="5957570" cy="315023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47625" y="459105"/>
            <a:ext cx="12108815" cy="6290310"/>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Box 1"/>
          <p:cNvSpPr txBox="1"/>
          <p:nvPr/>
        </p:nvSpPr>
        <p:spPr>
          <a:xfrm>
            <a:off x="359436" y="629022"/>
            <a:ext cx="7892538" cy="586741"/>
          </a:xfrm>
          <a:prstGeom prst="rect">
            <a:avLst/>
          </a:prstGeom>
          <a:ln w="12700">
            <a:miter lim="400000"/>
          </a:ln>
        </p:spPr>
        <p:txBody>
          <a:bodyPr lIns="45719" rIns="45719">
            <a:spAutoFit/>
          </a:bodyPr>
          <a:lstStyle>
            <a:lvl1pPr>
              <a:defRPr sz="3200" b="1" u="sng">
                <a:solidFill>
                  <a:srgbClr val="44546A"/>
                </a:solidFill>
                <a:latin typeface="Century Gothic"/>
                <a:ea typeface="Century Gothic"/>
                <a:cs typeface="Century Gothic"/>
                <a:sym typeface="Century Gothic"/>
              </a:defRPr>
            </a:lvl1pPr>
          </a:lstStyle>
          <a:p>
            <a:r>
              <a:t>RECOMMENDATIONS</a:t>
            </a:r>
          </a:p>
        </p:txBody>
      </p:sp>
      <p:sp>
        <p:nvSpPr>
          <p:cNvPr id="219" name="TextBox 2"/>
          <p:cNvSpPr txBox="1"/>
          <p:nvPr/>
        </p:nvSpPr>
        <p:spPr>
          <a:xfrm>
            <a:off x="359410" y="1007745"/>
            <a:ext cx="7454900" cy="5022215"/>
          </a:xfrm>
          <a:prstGeom prst="rect">
            <a:avLst/>
          </a:prstGeom>
          <a:ln w="12700">
            <a:miter lim="400000"/>
          </a:ln>
        </p:spPr>
        <p:txBody>
          <a:bodyPr lIns="45719" rIns="45719">
            <a:noAutofit/>
          </a:bodyPr>
          <a:lstStyle/>
          <a:p>
            <a:pPr>
              <a:defRPr sz="2400"/>
            </a:pPr>
          </a:p>
          <a:p>
            <a:pPr>
              <a:buSzPct val="100000"/>
              <a:buChar char="•"/>
            </a:pPr>
            <a:r>
              <a:t>Target Indonesia, Philippines, and Turkey for new restaurant openings - these markets combine low restaurant density, high average ratings (4.3-4.5), and strong customer engagement.</a:t>
            </a:r>
          </a:p>
          <a:p/>
          <a:p>
            <a:pPr>
              <a:buSzPct val="100000"/>
              <a:buChar char="•"/>
            </a:pPr>
            <a:r>
              <a:t>Prioritize cities with minimal competition: Bandung, Bogor, Tangerang (Indonesia); Makati City, Quezon City, Tagaytay City (Philippines); Istanbul and Ankara (Turkey).</a:t>
            </a:r>
          </a:p>
          <a:p/>
          <a:p>
            <a:pPr>
              <a:buSzPct val="100000"/>
              <a:buChar char="•"/>
            </a:pPr>
            <a:r>
              <a:t>Differentiate by offering unique local-fusion cuisines with high vote counts and stable ratings above 4.5, ensuring strong customer trust from day one.</a:t>
            </a:r>
          </a:p>
        </p:txBody>
      </p:sp>
      <p:sp>
        <p:nvSpPr>
          <p:cNvPr id="220" name="TextBox 3"/>
          <p:cNvSpPr txBox="1"/>
          <p:nvPr/>
        </p:nvSpPr>
        <p:spPr>
          <a:xfrm>
            <a:off x="359437" y="3576509"/>
            <a:ext cx="7681829" cy="2669889"/>
          </a:xfrm>
          <a:prstGeom prst="rect">
            <a:avLst/>
          </a:prstGeom>
          <a:ln w="12700">
            <a:miter lim="400000"/>
          </a:ln>
        </p:spPr>
        <p:txBody>
          <a:bodyPr lIns="45719" rIns="45719">
            <a:spAutoFit/>
          </a:bodyPr>
          <a:lstStyle/>
          <a:p/>
          <a:p>
            <a:pPr>
              <a:defRPr b="1" u="sng">
                <a:solidFill>
                  <a:srgbClr val="FF7C80"/>
                </a:solidFill>
              </a:defRPr>
            </a:pPr>
          </a:p>
          <a:p/>
          <a:p>
            <a:pPr>
              <a:buSzPct val="100000"/>
              <a:buChar char="•"/>
            </a:pPr>
            <a:r>
              <a:t>Mandatory implementation of online delivery and table booking: 74% of restaurants currently lack delivery, and 88% lack table booking - adding these services directly improves ratings and customer reach.</a:t>
            </a:r>
          </a:p>
          <a:p/>
          <a:p>
            <a:pPr>
              <a:buSzPct val="100000"/>
              <a:buChar char="•"/>
            </a:pPr>
            <a:r>
              <a:t>Apply country-specific pricing strategy: premium pricing in UAE and Philippines (higher spending capacity), moderate pricing in Indonesia, and affordable value-focused pricing in Turkey.</a:t>
            </a:r>
          </a:p>
          <a:p/>
          <a:p>
            <a:pPr>
              <a:buSzPct val="100000"/>
              <a:buChar char="•"/>
            </a:pPr>
            <a:r>
              <a:t>Focus on cuisines with stable ratings and high vote counts - avoid low-vote cuisines regardless of high ratings, as fewer than 50 votes makes averages statistically unreliable.</a:t>
            </a:r>
          </a:p>
        </p:txBody>
      </p:sp>
      <p:pic>
        <p:nvPicPr>
          <p:cNvPr id="221" name="Picture 2" descr="Picture 2"/>
          <p:cNvPicPr>
            <a:picLocks noChangeAspect="1"/>
          </p:cNvPicPr>
          <p:nvPr/>
        </p:nvPicPr>
        <p:blipFill>
          <a:blip r:embed="rId1"/>
          <a:srcRect l="14375" r="16428"/>
          <a:stretch>
            <a:fillRect/>
          </a:stretch>
        </p:blipFill>
        <p:spPr>
          <a:xfrm>
            <a:off x="8063230" y="0"/>
            <a:ext cx="4128770" cy="6750685"/>
          </a:xfrm>
          <a:prstGeom prst="rect">
            <a:avLst/>
          </a:prstGeom>
          <a:ln w="12700">
            <a:miter lim="400000"/>
            <a:headEnd/>
            <a:tailEnd/>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TextBox 1"/>
          <p:cNvSpPr txBox="1"/>
          <p:nvPr/>
        </p:nvSpPr>
        <p:spPr>
          <a:xfrm>
            <a:off x="4688156" y="620634"/>
            <a:ext cx="7892537" cy="586741"/>
          </a:xfrm>
          <a:prstGeom prst="rect">
            <a:avLst/>
          </a:prstGeom>
          <a:ln w="12700">
            <a:miter lim="400000"/>
          </a:ln>
        </p:spPr>
        <p:txBody>
          <a:bodyPr lIns="45719" rIns="45719">
            <a:spAutoFit/>
          </a:bodyPr>
          <a:lstStyle>
            <a:lvl1pPr>
              <a:defRPr sz="3200" b="1">
                <a:solidFill>
                  <a:srgbClr val="44546A"/>
                </a:solidFill>
                <a:latin typeface="Century Gothic"/>
                <a:ea typeface="Century Gothic"/>
                <a:cs typeface="Century Gothic"/>
                <a:sym typeface="Century Gothic"/>
              </a:defRPr>
            </a:lvl1pPr>
          </a:lstStyle>
          <a:p>
            <a:r>
              <a:t>CONCLUSION</a:t>
            </a:r>
          </a:p>
        </p:txBody>
      </p:sp>
      <p:sp>
        <p:nvSpPr>
          <p:cNvPr id="224" name="TextBox 2"/>
          <p:cNvSpPr txBox="1"/>
          <p:nvPr/>
        </p:nvSpPr>
        <p:spPr>
          <a:xfrm>
            <a:off x="793737" y="1055634"/>
            <a:ext cx="10628294" cy="5959188"/>
          </a:xfrm>
          <a:prstGeom prst="rect">
            <a:avLst/>
          </a:prstGeom>
          <a:ln w="12700">
            <a:miter lim="400000"/>
          </a:ln>
        </p:spPr>
        <p:txBody>
          <a:bodyPr lIns="45719" rIns="45719">
            <a:spAutoFit/>
          </a:bodyPr>
          <a:lstStyle/>
          <a:p>
            <a:pPr>
              <a:defRPr sz="2400"/>
            </a:pPr>
          </a:p>
          <a:p>
            <a:pPr>
              <a:buSzPct val="100000"/>
              <a:buChar char="•"/>
            </a:pPr>
            <a:r>
              <a:t>Indonesia (21 restaurants, avg rating 4.3, 772 avg votes), Philippines (22 restaurants, avg rating 4.5, 407 avg votes), and Turkey (34 restaurants, avg rating 4.3, 431 avg votes) are the strongest expansion markets based on low competition, high ratings, and strong engagement.</a:t>
            </a:r>
          </a:p>
          <a:p/>
          <a:p>
            <a:pPr>
              <a:buSzPct val="100000"/>
              <a:buChar char="•"/>
            </a:pPr>
            <a:r>
              <a:t>Entering cities like Bandung, Bogor (Indonesia), Makati City, Tagaytay City (Philippines), and Istanbul (Turkey) offers a clear first-mover advantage with minimal direct competition.</a:t>
            </a:r>
          </a:p>
          <a:p/>
          <a:p>
            <a:pPr>
              <a:buSzPct val="100000"/>
              <a:buChar char="•"/>
            </a:pPr>
            <a:r>
              <a:t>Pricing strategy must be market-specific: premium pricing in UAE and Philippines, moderate in Indonesia, and affordable in Turkey - aligning with each country's average spending capacity.</a:t>
            </a:r>
          </a:p>
          <a:p/>
          <a:p>
            <a:pPr>
              <a:buSzPct val="100000"/>
              <a:buChar char="•"/>
            </a:pPr>
            <a:r>
              <a:t>Online delivery and table booking are non-negotiable: 74% of restaurants lack delivery and 88% lack table booking - offering both from launch creates immediate competitive differentiation.</a:t>
            </a:r>
          </a:p>
          <a:p/>
          <a:p>
            <a:pPr>
              <a:buSzPct val="100000"/>
              <a:buChar char="•"/>
            </a:pPr>
            <a:r>
              <a:t>Cuisine selection should prioritize dishes with 4.5+ ratings backed by 100+ votes - statistically reliable indicators of sustained customer satisfaction and market acceptance.</a:t>
            </a:r>
          </a:p>
          <a:p/>
          <a:p>
            <a:pPr>
              <a:buSzPct val="100000"/>
              <a:buChar char="•"/>
            </a:pPr>
            <a:r>
              <a:t>Acting now in these identified markets maximizes visibility, secures market share ahead of competitors, and lays a data-backed foundation for sustainable long-term growth across Asia and the Middle East.</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Picture 2" descr="Picture 2"/>
          <p:cNvPicPr>
            <a:picLocks noChangeAspect="1"/>
          </p:cNvPicPr>
          <p:nvPr/>
        </p:nvPicPr>
        <p:blipFill>
          <a:blip r:embed="rId1"/>
          <a:stretch>
            <a:fillRect/>
          </a:stretch>
        </p:blipFill>
        <p:spPr>
          <a:xfrm>
            <a:off x="0" y="0"/>
            <a:ext cx="9144000" cy="6858000"/>
          </a:xfrm>
          <a:prstGeom prst="rect">
            <a:avLst/>
          </a:prstGeom>
          <a:ln w="12700">
            <a:miter lim="400000"/>
            <a:headEnd/>
            <a:tailEnd/>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10826</Words>
  <Application>WPS Sheets</Application>
  <PresentationFormat/>
  <Paragraphs>410</Paragraphs>
  <Slides>23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23</vt:i4>
      </vt:variant>
    </vt:vector>
  </HeadingPairs>
  <TitlesOfParts>
    <vt:vector size="42" baseType="lpstr">
      <vt:lpstr>Arial</vt:lpstr>
      <vt:lpstr>SimSun</vt:lpstr>
      <vt:lpstr>Wingdings</vt:lpstr>
      <vt:lpstr>Calibri</vt:lpstr>
      <vt:lpstr>Helvetica Neue</vt:lpstr>
      <vt:lpstr>Calibri Light</vt:lpstr>
      <vt:lpstr>Arial</vt:lpstr>
      <vt:lpstr>Lato</vt:lpstr>
      <vt:lpstr>Thonburi</vt:lpstr>
      <vt:lpstr>Century Gothic</vt:lpstr>
      <vt:lpstr>Helvetica</vt:lpstr>
      <vt:lpstr>Microsoft YaHei</vt:lpstr>
      <vt:lpstr>汉仪旗黑</vt:lpstr>
      <vt:lpstr>Arial Unicode MS</vt:lpstr>
      <vt:lpstr>Times Roman</vt:lpstr>
      <vt:lpstr>Times New Roman</vt:lpstr>
      <vt:lpstr>Calibri</vt:lpstr>
      <vt:lpstr>宋体-简</vt:lpstr>
      <vt:lpstr>Office Theme</vt:lpstr>
      <vt:lpstr>Spreadsheet Project: Zomato Restaurants Analysis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Spreadsheet Project: Zomato Restaurants Analysis </dc:title>
  <dc:creator/>
  <cp:lastModifiedBy>tusharnaha</cp:lastModifiedBy>
  <cp:revision>3</cp:revision>
  <dcterms:created xsi:type="dcterms:W3CDTF">2026-05-30T05:39:41Z</dcterms:created>
  <dcterms:modified xsi:type="dcterms:W3CDTF">2026-05-30T05:39:41Z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1033-12.1.25897.25897</vt:lpwstr>
  </property>
  <property fmtid="{D5CDD505-2E9C-101B-9397-08002B2CF9AE}" pid="3" name="ICV">
    <vt:lpwstr>E77712F1F4BDFBB8B3DB196AD1877E8B_42</vt:lpwstr>
  </property>
</Properties>
</file>